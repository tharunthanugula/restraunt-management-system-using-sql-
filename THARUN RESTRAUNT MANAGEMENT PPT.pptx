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7"/>
  </p:notesMasterIdLst>
  <p:sldIdLst>
    <p:sldId id="256" r:id="rId2"/>
    <p:sldId id="258" r:id="rId3"/>
    <p:sldId id="261" r:id="rId4"/>
    <p:sldId id="262" r:id="rId5"/>
    <p:sldId id="294" r:id="rId6"/>
    <p:sldId id="263" r:id="rId7"/>
    <p:sldId id="298" r:id="rId8"/>
    <p:sldId id="264" r:id="rId9"/>
    <p:sldId id="265" r:id="rId10"/>
    <p:sldId id="275" r:id="rId11"/>
    <p:sldId id="276" r:id="rId12"/>
    <p:sldId id="295" r:id="rId13"/>
    <p:sldId id="296" r:id="rId14"/>
    <p:sldId id="293" r:id="rId15"/>
    <p:sldId id="297" r:id="rId1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2" roundtripDataSignature="AMtx7mi4HmEECUlll0m8HTY06QsqsmZGG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36"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35"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smtClean="0">
                <a:solidFill>
                  <a:schemeClr val="dk1"/>
                </a:solidFill>
                <a:latin typeface="Calibri"/>
                <a:ea typeface="Calibri"/>
                <a:cs typeface="Calibri"/>
                <a:sym typeface="Calibri"/>
              </a:rPr>
              <a:t>4</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74639651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2" name="Google Shape;32;p10"/>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3"/>
        <p:cNvGrpSpPr/>
        <p:nvPr/>
      </p:nvGrpSpPr>
      <p:grpSpPr>
        <a:xfrm>
          <a:off x="0" y="0"/>
          <a:ext cx="0" cy="0"/>
          <a:chOff x="0" y="0"/>
          <a:chExt cx="0" cy="0"/>
        </a:xfrm>
      </p:grpSpPr>
      <p:sp>
        <p:nvSpPr>
          <p:cNvPr id="34" name="Google Shape;34;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6" name="Google Shape;36;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9" name="Google Shape;39;p8"/>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46" name="Google Shape;46;p11"/>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64" name="Google Shape;64;p13"/>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txBody>
          <a:bodyPr/>
          <a:lstStyle/>
          <a:p>
            <a:endParaRPr lang="en-US"/>
          </a:p>
        </p:txBody>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1185" y="-1153493"/>
            <a:ext cx="12190815" cy="8292048"/>
          </a:xfrm>
          <a:prstGeom prst="rect">
            <a:avLst/>
          </a:prstGeom>
          <a:noFill/>
          <a:ln>
            <a:noFill/>
          </a:ln>
        </p:spPr>
      </p:pic>
      <p:sp>
        <p:nvSpPr>
          <p:cNvPr id="99" name="Google Shape;99;p1"/>
          <p:cNvSpPr txBox="1"/>
          <p:nvPr/>
        </p:nvSpPr>
        <p:spPr>
          <a:xfrm>
            <a:off x="2649884" y="3283528"/>
            <a:ext cx="7273434" cy="3046948"/>
          </a:xfrm>
          <a:prstGeom prst="rect">
            <a:avLst/>
          </a:prstGeom>
          <a:noFill/>
          <a:ln>
            <a:noFill/>
          </a:ln>
        </p:spPr>
        <p:txBody>
          <a:bodyPr spcFirstLastPara="1" wrap="square" lIns="91425" tIns="45700" rIns="91425" bIns="45700" anchor="t" anchorCtr="0">
            <a:spAutoFit/>
          </a:bodyPr>
          <a:lstStyle/>
          <a:p>
            <a:pPr lvl="0" algn="ctr">
              <a:buSzPts val="1800"/>
            </a:pPr>
            <a:r>
              <a:rPr lang="en-US" sz="3200" b="1" dirty="0"/>
              <a:t>Restaurant &amp; Consumer Data Project! </a:t>
            </a:r>
            <a:endParaRPr lang="en-IN" sz="3200" b="1" dirty="0">
              <a:solidFill>
                <a:schemeClr val="dk1"/>
              </a:solidFill>
              <a:latin typeface="+mj-lt"/>
              <a:ea typeface="Calibri"/>
              <a:cs typeface="Calibri"/>
              <a:sym typeface="Calibri"/>
            </a:endParaRPr>
          </a:p>
          <a:p>
            <a:pPr marL="0" marR="0" lvl="0" indent="0" algn="ctr" rtl="0">
              <a:lnSpc>
                <a:spcPct val="100000"/>
              </a:lnSpc>
              <a:spcBef>
                <a:spcPts val="0"/>
              </a:spcBef>
              <a:spcAft>
                <a:spcPts val="0"/>
              </a:spcAft>
              <a:buClr>
                <a:srgbClr val="000000"/>
              </a:buClr>
              <a:buSzPts val="1800"/>
              <a:buFont typeface="Arial"/>
              <a:buNone/>
            </a:pPr>
            <a:endParaRPr lang="en-IN" sz="3200" b="1" i="0" u="none" strike="noStrike" cap="none" dirty="0">
              <a:solidFill>
                <a:srgbClr val="FF0000"/>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1800"/>
              <a:buFont typeface="Arial"/>
              <a:buNone/>
            </a:pPr>
            <a:r>
              <a:rPr lang="en-IN" sz="3200" b="1" dirty="0">
                <a:solidFill>
                  <a:srgbClr val="FF0000"/>
                </a:solidFill>
                <a:latin typeface="+mj-lt"/>
                <a:ea typeface="Calibri"/>
                <a:cs typeface="Calibri"/>
                <a:sym typeface="Calibri"/>
              </a:rPr>
              <a:t>Presented </a:t>
            </a:r>
            <a:r>
              <a:rPr lang="en-IN" sz="3200" b="1" i="0" u="none" strike="noStrike" cap="none" dirty="0">
                <a:solidFill>
                  <a:srgbClr val="FF0000"/>
                </a:solidFill>
                <a:latin typeface="+mj-lt"/>
                <a:ea typeface="Calibri"/>
                <a:cs typeface="Calibri"/>
                <a:sym typeface="Calibri"/>
              </a:rPr>
              <a:t>By</a:t>
            </a:r>
            <a:r>
              <a:rPr lang="en-IN" sz="3200" b="1" dirty="0">
                <a:solidFill>
                  <a:srgbClr val="FF0000"/>
                </a:solidFill>
                <a:latin typeface="+mj-lt"/>
                <a:ea typeface="Calibri"/>
                <a:cs typeface="Calibri"/>
                <a:sym typeface="Calibri"/>
              </a:rPr>
              <a:t>:</a:t>
            </a:r>
          </a:p>
          <a:p>
            <a:pPr marL="0" marR="0" lvl="0" indent="0" algn="ctr" rtl="0">
              <a:lnSpc>
                <a:spcPct val="100000"/>
              </a:lnSpc>
              <a:spcBef>
                <a:spcPts val="0"/>
              </a:spcBef>
              <a:spcAft>
                <a:spcPts val="0"/>
              </a:spcAft>
              <a:buClr>
                <a:srgbClr val="000000"/>
              </a:buClr>
              <a:buSzPts val="1800"/>
              <a:buFont typeface="Arial"/>
              <a:buNone/>
            </a:pPr>
            <a:r>
              <a:rPr lang="en-IN" sz="3200" i="0" u="none" strike="noStrike" cap="none" dirty="0">
                <a:solidFill>
                  <a:schemeClr val="tx1">
                    <a:lumMod val="95000"/>
                    <a:lumOff val="5000"/>
                  </a:schemeClr>
                </a:solidFill>
                <a:latin typeface="+mj-lt"/>
                <a:ea typeface="Calibri"/>
                <a:cs typeface="Calibri"/>
                <a:sym typeface="Calibri"/>
              </a:rPr>
              <a:t>Tharun</a:t>
            </a:r>
            <a:r>
              <a:rPr lang="en-IN" sz="3200" dirty="0">
                <a:solidFill>
                  <a:schemeClr val="tx1">
                    <a:lumMod val="95000"/>
                    <a:lumOff val="5000"/>
                  </a:schemeClr>
                </a:solidFill>
                <a:latin typeface="+mj-lt"/>
                <a:ea typeface="Calibri"/>
                <a:cs typeface="Calibri"/>
                <a:sym typeface="Calibri"/>
              </a:rPr>
              <a:t> Thanugula</a:t>
            </a:r>
          </a:p>
          <a:p>
            <a:pPr marL="0" marR="0" lvl="0" indent="0" algn="ctr" rtl="0">
              <a:lnSpc>
                <a:spcPct val="100000"/>
              </a:lnSpc>
              <a:spcBef>
                <a:spcPts val="0"/>
              </a:spcBef>
              <a:spcAft>
                <a:spcPts val="0"/>
              </a:spcAft>
              <a:buClr>
                <a:srgbClr val="000000"/>
              </a:buClr>
              <a:buSzPts val="1800"/>
              <a:buFont typeface="Arial"/>
              <a:buNone/>
            </a:pPr>
            <a:r>
              <a:rPr lang="en-IN" sz="3200">
                <a:solidFill>
                  <a:schemeClr val="tx1">
                    <a:lumMod val="95000"/>
                    <a:lumOff val="5000"/>
                  </a:schemeClr>
                </a:solidFill>
                <a:latin typeface="+mj-lt"/>
                <a:ea typeface="Calibri"/>
                <a:cs typeface="Calibri"/>
                <a:sym typeface="Calibri"/>
              </a:rPr>
              <a:t>     </a:t>
            </a:r>
            <a:endParaRPr sz="3200" b="1" i="0" u="none" strike="noStrike" cap="none" dirty="0">
              <a:solidFill>
                <a:schemeClr val="tx1">
                  <a:lumMod val="95000"/>
                  <a:lumOff val="5000"/>
                </a:schemeClr>
              </a:solidFill>
              <a:latin typeface="+mj-lt"/>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4"/>
          <p:cNvSpPr txBox="1">
            <a:spLocks noGrp="1"/>
          </p:cNvSpPr>
          <p:nvPr>
            <p:ph type="title"/>
          </p:nvPr>
        </p:nvSpPr>
        <p:spPr>
          <a:xfrm>
            <a:off x="776748" y="18255"/>
            <a:ext cx="9947324"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4400"/>
              <a:buFont typeface="Calibri"/>
              <a:buNone/>
            </a:pPr>
            <a:r>
              <a:rPr lang="en-IN" sz="3200" b="1" dirty="0">
                <a:solidFill>
                  <a:srgbClr val="FF0000"/>
                </a:solidFill>
                <a:latin typeface="+mj-lt"/>
              </a:rPr>
              <a:t>Agenda</a:t>
            </a:r>
            <a:endParaRPr sz="3200" b="1" dirty="0">
              <a:solidFill>
                <a:srgbClr val="FF0000"/>
              </a:solidFill>
              <a:latin typeface="+mj-lt"/>
            </a:endParaRPr>
          </a:p>
        </p:txBody>
      </p:sp>
      <p:sp>
        <p:nvSpPr>
          <p:cNvPr id="111" name="Google Shape;111;p4"/>
          <p:cNvSpPr txBox="1">
            <a:spLocks noGrp="1"/>
          </p:cNvSpPr>
          <p:nvPr>
            <p:ph type="body" idx="1"/>
          </p:nvPr>
        </p:nvSpPr>
        <p:spPr>
          <a:xfrm>
            <a:off x="698090" y="924233"/>
            <a:ext cx="10502390" cy="5346136"/>
          </a:xfrm>
          <a:prstGeom prst="rect">
            <a:avLst/>
          </a:prstGeom>
          <a:noFill/>
          <a:ln>
            <a:noFill/>
          </a:ln>
        </p:spPr>
        <p:txBody>
          <a:bodyPr spcFirstLastPara="1" wrap="square" lIns="91425" tIns="45700" rIns="91425" bIns="45700" anchor="t" anchorCtr="0">
            <a:normAutofit/>
          </a:bodyPr>
          <a:lstStyle/>
          <a:p>
            <a:pPr fontAlgn="base"/>
            <a:r>
              <a:rPr lang="en-US" b="1" dirty="0"/>
              <a:t>Objective of the Project</a:t>
            </a:r>
          </a:p>
          <a:p>
            <a:pPr fontAlgn="base"/>
            <a:r>
              <a:rPr lang="en-US" b="1" dirty="0"/>
              <a:t>ER Diagram and schema explanation</a:t>
            </a:r>
          </a:p>
          <a:p>
            <a:pPr fontAlgn="base"/>
            <a:r>
              <a:rPr lang="en-US" b="1" dirty="0"/>
              <a:t>Key analysis questions (use cases)</a:t>
            </a:r>
          </a:p>
          <a:p>
            <a:pPr fontAlgn="base"/>
            <a:r>
              <a:rPr lang="en-US" b="1" dirty="0"/>
              <a:t>SQL query results with screenshots or summaries</a:t>
            </a:r>
          </a:p>
          <a:p>
            <a:pPr fontAlgn="base"/>
            <a:r>
              <a:rPr lang="en-US" b="1" dirty="0"/>
              <a:t>Final business insights and recommendations</a:t>
            </a:r>
          </a:p>
          <a:p>
            <a:pPr fontAlgn="base"/>
            <a:r>
              <a:rPr lang="en-US" b="1" dirty="0"/>
              <a:t>Conclusion (Key finding overall) </a:t>
            </a:r>
          </a:p>
          <a:p>
            <a:pPr fontAlgn="base"/>
            <a:r>
              <a:rPr lang="en-US" b="1" dirty="0"/>
              <a:t>Q&amp;A Slide </a:t>
            </a:r>
          </a:p>
          <a:p>
            <a:pPr fontAlgn="base"/>
            <a:r>
              <a:rPr lang="en-US" b="1" dirty="0"/>
              <a:t>Your Experience/Challenges working on SQL – Data Analysis Project.</a:t>
            </a:r>
          </a:p>
          <a:p>
            <a:pPr marL="114300" indent="0">
              <a:buNone/>
            </a:pP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103CCA-AEF2-9A2F-864D-2B303C15ED5C}"/>
              </a:ext>
            </a:extLst>
          </p:cNvPr>
          <p:cNvSpPr>
            <a:spLocks noGrp="1"/>
          </p:cNvSpPr>
          <p:nvPr>
            <p:ph type="title"/>
          </p:nvPr>
        </p:nvSpPr>
        <p:spPr/>
        <p:txBody>
          <a:bodyPr>
            <a:normAutofit/>
          </a:bodyPr>
          <a:lstStyle/>
          <a:p>
            <a:pPr algn="ctr"/>
            <a:r>
              <a:rPr lang="en-US" sz="3200" b="1" dirty="0">
                <a:solidFill>
                  <a:srgbClr val="FF0000"/>
                </a:solidFill>
                <a:latin typeface="+mj-lt"/>
                <a:ea typeface="Calibri" panose="020F0502020204030204" pitchFamily="34" charset="0"/>
                <a:cs typeface="Times New Roman" panose="02020603050405020304" pitchFamily="18" charset="0"/>
              </a:rPr>
              <a:t>OBJECTIVE OF THE PROJECT</a:t>
            </a:r>
            <a:endParaRPr lang="en-IN" sz="3200" b="1" dirty="0">
              <a:solidFill>
                <a:srgbClr val="FF0000"/>
              </a:solidFill>
              <a:latin typeface="+mj-lt"/>
              <a:ea typeface="Calibri" panose="020F0502020204030204" pitchFamily="34" charset="0"/>
              <a:cs typeface="Times New Roman" panose="02020603050405020304" pitchFamily="18" charset="0"/>
            </a:endParaRPr>
          </a:p>
        </p:txBody>
      </p:sp>
      <p:sp>
        <p:nvSpPr>
          <p:cNvPr id="3" name="Text Placeholder 2">
            <a:extLst>
              <a:ext uri="{FF2B5EF4-FFF2-40B4-BE49-F238E27FC236}">
                <a16:creationId xmlns:a16="http://schemas.microsoft.com/office/drawing/2014/main" id="{76F1BECE-2FA0-0D5C-DCD6-E71A9ED2C004}"/>
              </a:ext>
            </a:extLst>
          </p:cNvPr>
          <p:cNvSpPr>
            <a:spLocks noGrp="1"/>
          </p:cNvSpPr>
          <p:nvPr>
            <p:ph type="body" idx="1"/>
          </p:nvPr>
        </p:nvSpPr>
        <p:spPr>
          <a:xfrm>
            <a:off x="838200" y="1366684"/>
            <a:ext cx="10515600" cy="4810279"/>
          </a:xfrm>
        </p:spPr>
        <p:txBody>
          <a:bodyPr>
            <a:normAutofit/>
          </a:bodyPr>
          <a:lstStyle/>
          <a:p>
            <a:pPr algn="just">
              <a:lnSpc>
                <a:spcPct val="100000"/>
              </a:lnSpc>
              <a:buFont typeface="Arial" panose="020B0604020202020204" pitchFamily="34" charset="0"/>
              <a:buChar char="•"/>
            </a:pPr>
            <a:r>
              <a:rPr lang="en-US" sz="2000" dirty="0"/>
              <a:t>The main objective of the </a:t>
            </a:r>
            <a:r>
              <a:rPr lang="en-US" sz="2000" b="1" dirty="0"/>
              <a:t>Restaurant and Consumer Data Management System</a:t>
            </a:r>
            <a:r>
              <a:rPr lang="en-US" sz="2000" dirty="0"/>
              <a:t> is to design a relational database that efficiently stores and analyzes information about consumers, restaurants, cuisines, and ratings. </a:t>
            </a:r>
          </a:p>
          <a:p>
            <a:pPr algn="just">
              <a:lnSpc>
                <a:spcPct val="100000"/>
              </a:lnSpc>
              <a:buFont typeface="Arial" panose="020B0604020202020204" pitchFamily="34" charset="0"/>
              <a:buChar char="•"/>
            </a:pPr>
            <a:r>
              <a:rPr lang="en-US" sz="2000" dirty="0"/>
              <a:t>The project aims to identify top-rated restaurants, understand customer preferences, and evaluate restaurant performance using SQL queries. </a:t>
            </a:r>
          </a:p>
          <a:p>
            <a:pPr algn="just">
              <a:lnSpc>
                <a:spcPct val="100000"/>
              </a:lnSpc>
              <a:buFont typeface="Arial" panose="020B0604020202020204" pitchFamily="34" charset="0"/>
              <a:buChar char="•"/>
            </a:pPr>
            <a:r>
              <a:rPr lang="en-US" sz="2000" dirty="0"/>
              <a:t>By applying advanced SQL techniques like joins, subqueries, CTEs, and stored procedures, it generates meaningful insights for better decision-making. </a:t>
            </a:r>
          </a:p>
          <a:p>
            <a:pPr algn="just">
              <a:lnSpc>
                <a:spcPct val="100000"/>
              </a:lnSpc>
              <a:buFont typeface="Arial" panose="020B0604020202020204" pitchFamily="34" charset="0"/>
              <a:buChar char="•"/>
            </a:pPr>
            <a:r>
              <a:rPr lang="en-US" sz="2000" dirty="0"/>
              <a:t>The system helps restaurant owners improve service quality and assists consumers in finding restaurants that match their preferences, ultimately promoting data-driven strategies and enhanced dining experiences.</a:t>
            </a:r>
            <a:endParaRPr lang="en-IN" sz="2000" dirty="0">
              <a:latin typeface="+mn-l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6351663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C8AA10-81E0-1E0D-205C-57AA7BC8F97A}"/>
              </a:ext>
            </a:extLst>
          </p:cNvPr>
          <p:cNvSpPr>
            <a:spLocks noGrp="1"/>
          </p:cNvSpPr>
          <p:nvPr>
            <p:ph type="title"/>
          </p:nvPr>
        </p:nvSpPr>
        <p:spPr/>
        <p:txBody>
          <a:bodyPr>
            <a:normAutofit/>
          </a:bodyPr>
          <a:lstStyle/>
          <a:p>
            <a:pPr algn="ctr" fontAlgn="base"/>
            <a:r>
              <a:rPr lang="en-US" sz="3600" b="1" dirty="0">
                <a:solidFill>
                  <a:srgbClr val="FF0000"/>
                </a:solidFill>
              </a:rPr>
              <a:t>ER Diagram and schema explanation</a:t>
            </a:r>
          </a:p>
        </p:txBody>
      </p:sp>
      <p:sp>
        <p:nvSpPr>
          <p:cNvPr id="3" name="Text Placeholder 2">
            <a:extLst>
              <a:ext uri="{FF2B5EF4-FFF2-40B4-BE49-F238E27FC236}">
                <a16:creationId xmlns:a16="http://schemas.microsoft.com/office/drawing/2014/main" id="{1D9ED916-DAA8-6CA7-37C6-6D2204FF1BE0}"/>
              </a:ext>
            </a:extLst>
          </p:cNvPr>
          <p:cNvSpPr>
            <a:spLocks noGrp="1"/>
          </p:cNvSpPr>
          <p:nvPr>
            <p:ph type="body" idx="1"/>
          </p:nvPr>
        </p:nvSpPr>
        <p:spPr>
          <a:xfrm>
            <a:off x="838200" y="1386348"/>
            <a:ext cx="10515600" cy="4790616"/>
          </a:xfrm>
        </p:spPr>
        <p:txBody>
          <a:bodyPr>
            <a:normAutofit/>
          </a:bodyPr>
          <a:lstStyle/>
          <a:p>
            <a:pPr algn="just">
              <a:lnSpc>
                <a:spcPct val="100000"/>
              </a:lnSpc>
              <a:buFont typeface="Arial" panose="020B0604020202020204" pitchFamily="34" charset="0"/>
              <a:buChar char="•"/>
            </a:pPr>
            <a:r>
              <a:rPr lang="en-US" sz="2000" dirty="0"/>
              <a:t>The ER diagram represents relationships between </a:t>
            </a:r>
            <a:r>
              <a:rPr lang="en-US" sz="2000" b="1" dirty="0"/>
              <a:t>Consumers</a:t>
            </a:r>
            <a:r>
              <a:rPr lang="en-US" sz="2000" dirty="0"/>
              <a:t>, </a:t>
            </a:r>
            <a:r>
              <a:rPr lang="en-US" sz="2000" b="1" dirty="0"/>
              <a:t>Restaurants</a:t>
            </a:r>
            <a:r>
              <a:rPr lang="en-US" sz="2000" dirty="0"/>
              <a:t>, and their </a:t>
            </a:r>
            <a:r>
              <a:rPr lang="en-US" sz="2000" b="1" dirty="0"/>
              <a:t>Ratings</a:t>
            </a:r>
            <a:r>
              <a:rPr lang="en-US" sz="2000" dirty="0"/>
              <a:t>. </a:t>
            </a:r>
          </a:p>
          <a:p>
            <a:pPr algn="just">
              <a:lnSpc>
                <a:spcPct val="100000"/>
              </a:lnSpc>
              <a:buFont typeface="Arial" panose="020B0604020202020204" pitchFamily="34" charset="0"/>
              <a:buChar char="•"/>
            </a:pPr>
            <a:r>
              <a:rPr lang="en-US" sz="2000" dirty="0"/>
              <a:t>The </a:t>
            </a:r>
            <a:r>
              <a:rPr lang="en-US" sz="2000" b="1" dirty="0"/>
              <a:t>Consumers</a:t>
            </a:r>
            <a:r>
              <a:rPr lang="en-US" sz="2000" dirty="0"/>
              <a:t> table stores personal and lifestyle details, while </a:t>
            </a:r>
            <a:r>
              <a:rPr lang="en-US" sz="2000" b="1" dirty="0" err="1"/>
              <a:t>Consumer_Preferences</a:t>
            </a:r>
            <a:r>
              <a:rPr lang="en-US" sz="2000" dirty="0"/>
              <a:t> links consumers with their favorite cuisines. </a:t>
            </a:r>
          </a:p>
          <a:p>
            <a:pPr algn="just">
              <a:lnSpc>
                <a:spcPct val="100000"/>
              </a:lnSpc>
              <a:buFont typeface="Arial" panose="020B0604020202020204" pitchFamily="34" charset="0"/>
              <a:buChar char="•"/>
            </a:pPr>
            <a:r>
              <a:rPr lang="en-US" sz="2000" dirty="0"/>
              <a:t>The </a:t>
            </a:r>
            <a:r>
              <a:rPr lang="en-US" sz="2000" b="1" dirty="0"/>
              <a:t>Restaurants</a:t>
            </a:r>
            <a:r>
              <a:rPr lang="en-US" sz="2000" dirty="0"/>
              <a:t> table contains information like location, price, and services. Each restaurant can serve multiple cuisines, stored in </a:t>
            </a:r>
            <a:r>
              <a:rPr lang="en-US" sz="2000" b="1" dirty="0" err="1"/>
              <a:t>Restaurant_Cuisines</a:t>
            </a:r>
            <a:r>
              <a:rPr lang="en-US" sz="2000" dirty="0"/>
              <a:t>. </a:t>
            </a:r>
          </a:p>
          <a:p>
            <a:pPr algn="just">
              <a:lnSpc>
                <a:spcPct val="100000"/>
              </a:lnSpc>
              <a:buFont typeface="Arial" panose="020B0604020202020204" pitchFamily="34" charset="0"/>
              <a:buChar char="•"/>
            </a:pPr>
            <a:r>
              <a:rPr lang="en-US" sz="2000" dirty="0"/>
              <a:t>The </a:t>
            </a:r>
            <a:r>
              <a:rPr lang="en-US" sz="2000" b="1" dirty="0"/>
              <a:t>Ratings</a:t>
            </a:r>
            <a:r>
              <a:rPr lang="en-US" sz="2000" dirty="0"/>
              <a:t> table connects consumers and restaurants, showing their overall, food, and service ratings. </a:t>
            </a:r>
          </a:p>
          <a:p>
            <a:pPr algn="just">
              <a:lnSpc>
                <a:spcPct val="100000"/>
              </a:lnSpc>
              <a:buFont typeface="Arial" panose="020B0604020202020204" pitchFamily="34" charset="0"/>
              <a:buChar char="•"/>
            </a:pPr>
            <a:r>
              <a:rPr lang="en-US" sz="2000" dirty="0"/>
              <a:t>Relationships include one-to-many between Consumers and Ratings, and Restaurants and Ratings, and many-to-many between Consumers and Cuisines via </a:t>
            </a:r>
            <a:r>
              <a:rPr lang="en-US" sz="2000" dirty="0" err="1"/>
              <a:t>Consumer_Preferences</a:t>
            </a:r>
            <a:r>
              <a:rPr lang="en-US" sz="2000" dirty="0"/>
              <a:t>.</a:t>
            </a:r>
            <a:endParaRPr lang="en-IN" sz="2000" dirty="0">
              <a:latin typeface="+mn-lt"/>
            </a:endParaRPr>
          </a:p>
        </p:txBody>
      </p:sp>
    </p:spTree>
    <p:extLst>
      <p:ext uri="{BB962C8B-B14F-4D97-AF65-F5344CB8AC3E}">
        <p14:creationId xmlns:p14="http://schemas.microsoft.com/office/powerpoint/2010/main" val="15466774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9811F1-C86F-B84C-48FD-00392FDE903F}"/>
              </a:ext>
            </a:extLst>
          </p:cNvPr>
          <p:cNvSpPr>
            <a:spLocks noGrp="1"/>
          </p:cNvSpPr>
          <p:nvPr>
            <p:ph type="title"/>
          </p:nvPr>
        </p:nvSpPr>
        <p:spPr/>
        <p:txBody>
          <a:bodyPr/>
          <a:lstStyle/>
          <a:p>
            <a:pPr algn="ctr"/>
            <a:r>
              <a:rPr lang="en-US" dirty="0">
                <a:solidFill>
                  <a:srgbClr val="FF0000"/>
                </a:solidFill>
              </a:rPr>
              <a:t>ER DIAGRAM OF THIS PROJECT</a:t>
            </a:r>
          </a:p>
        </p:txBody>
      </p:sp>
      <p:sp>
        <p:nvSpPr>
          <p:cNvPr id="3" name="Text Placeholder 2">
            <a:extLst>
              <a:ext uri="{FF2B5EF4-FFF2-40B4-BE49-F238E27FC236}">
                <a16:creationId xmlns:a16="http://schemas.microsoft.com/office/drawing/2014/main" id="{EEAAE014-BA11-96D9-4219-9758EE41DD03}"/>
              </a:ext>
            </a:extLst>
          </p:cNvPr>
          <p:cNvSpPr>
            <a:spLocks noGrp="1"/>
          </p:cNvSpPr>
          <p:nvPr>
            <p:ph type="body" idx="1"/>
          </p:nvPr>
        </p:nvSpPr>
        <p:spPr/>
        <p:txBody>
          <a:bodyPr/>
          <a:lstStyle/>
          <a:p>
            <a:endParaRPr lang="en-US" dirty="0"/>
          </a:p>
        </p:txBody>
      </p:sp>
      <p:pic>
        <p:nvPicPr>
          <p:cNvPr id="7" name="Picture 6">
            <a:extLst>
              <a:ext uri="{FF2B5EF4-FFF2-40B4-BE49-F238E27FC236}">
                <a16:creationId xmlns:a16="http://schemas.microsoft.com/office/drawing/2014/main" id="{CFF19631-6C2B-BFC0-185B-9A3F5AFEBC4D}"/>
              </a:ext>
            </a:extLst>
          </p:cNvPr>
          <p:cNvPicPr>
            <a:picLocks noChangeAspect="1"/>
          </p:cNvPicPr>
          <p:nvPr/>
        </p:nvPicPr>
        <p:blipFill>
          <a:blip r:embed="rId2"/>
          <a:stretch>
            <a:fillRect/>
          </a:stretch>
        </p:blipFill>
        <p:spPr>
          <a:xfrm>
            <a:off x="837642" y="1406013"/>
            <a:ext cx="10516715" cy="4770950"/>
          </a:xfrm>
          <a:prstGeom prst="rect">
            <a:avLst/>
          </a:prstGeom>
        </p:spPr>
      </p:pic>
    </p:spTree>
    <p:extLst>
      <p:ext uri="{BB962C8B-B14F-4D97-AF65-F5344CB8AC3E}">
        <p14:creationId xmlns:p14="http://schemas.microsoft.com/office/powerpoint/2010/main" val="25564055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B8095-D369-EBBA-21A3-B231A9702C2D}"/>
              </a:ext>
            </a:extLst>
          </p:cNvPr>
          <p:cNvSpPr>
            <a:spLocks noGrp="1"/>
          </p:cNvSpPr>
          <p:nvPr>
            <p:ph type="title"/>
          </p:nvPr>
        </p:nvSpPr>
        <p:spPr/>
        <p:txBody>
          <a:bodyPr>
            <a:normAutofit/>
          </a:bodyPr>
          <a:lstStyle/>
          <a:p>
            <a:pPr algn="ctr" fontAlgn="base"/>
            <a:r>
              <a:rPr lang="en-US" sz="3200" b="1" dirty="0">
                <a:solidFill>
                  <a:srgbClr val="FF0000"/>
                </a:solidFill>
              </a:rPr>
              <a:t>Key analysis questions (use cases)</a:t>
            </a:r>
          </a:p>
        </p:txBody>
      </p:sp>
      <p:sp>
        <p:nvSpPr>
          <p:cNvPr id="3" name="Text Placeholder 2">
            <a:extLst>
              <a:ext uri="{FF2B5EF4-FFF2-40B4-BE49-F238E27FC236}">
                <a16:creationId xmlns:a16="http://schemas.microsoft.com/office/drawing/2014/main" id="{B95B3934-AFFC-804A-D845-54D29212EF5E}"/>
              </a:ext>
            </a:extLst>
          </p:cNvPr>
          <p:cNvSpPr>
            <a:spLocks noGrp="1"/>
          </p:cNvSpPr>
          <p:nvPr>
            <p:ph type="body" idx="1"/>
          </p:nvPr>
        </p:nvSpPr>
        <p:spPr>
          <a:xfrm>
            <a:off x="838200" y="1690687"/>
            <a:ext cx="8352100" cy="4802187"/>
          </a:xfrm>
        </p:spPr>
        <p:txBody>
          <a:bodyPr>
            <a:normAutofit/>
          </a:bodyPr>
          <a:lstStyle/>
          <a:p>
            <a:pPr>
              <a:buFont typeface="Arial" panose="020B0604020202020204" pitchFamily="34" charset="0"/>
              <a:buChar char="•"/>
            </a:pPr>
            <a:r>
              <a:rPr lang="en-US" sz="1900" dirty="0"/>
              <a:t>The project enables analysis of consumer behavior, restaurant performance, and cuisine preferences. </a:t>
            </a:r>
          </a:p>
          <a:p>
            <a:pPr>
              <a:buFont typeface="Arial" panose="020B0604020202020204" pitchFamily="34" charset="0"/>
              <a:buChar char="•"/>
            </a:pPr>
            <a:r>
              <a:rPr lang="en-US" sz="1900" dirty="0"/>
              <a:t>It identifies high-value consumers, their preferred cuisines, and spending segments (Low, Medium, High). </a:t>
            </a:r>
          </a:p>
          <a:p>
            <a:pPr>
              <a:buFont typeface="Arial" panose="020B0604020202020204" pitchFamily="34" charset="0"/>
              <a:buChar char="•"/>
            </a:pPr>
            <a:r>
              <a:rPr lang="en-US" sz="1900" dirty="0"/>
              <a:t>Restaurants are evaluated based on overall, food, and service ratings, highlighting top performers and those needing improvement. </a:t>
            </a:r>
          </a:p>
          <a:p>
            <a:pPr>
              <a:buFont typeface="Arial" panose="020B0604020202020204" pitchFamily="34" charset="0"/>
              <a:buChar char="•"/>
            </a:pPr>
            <a:r>
              <a:rPr lang="en-US" sz="1900" dirty="0"/>
              <a:t>Insights include popular cuisines per city, gaps between preferences and offerings, and consumers’ rating patterns compared to averages. Advanced use cases include ranking restaurants for each consumer, tracking sequential ratings, and identifying top consumers.</a:t>
            </a:r>
          </a:p>
          <a:p>
            <a:pPr>
              <a:buFont typeface="Arial" panose="020B0604020202020204" pitchFamily="34" charset="0"/>
              <a:buChar char="•"/>
            </a:pPr>
            <a:r>
              <a:rPr lang="en-US" sz="1900" dirty="0"/>
              <a:t> Operationally, the system supports targeted promotions, optimized restaurant offerings, and strategic decisions to improve consumer satisfaction and business growth</a:t>
            </a:r>
            <a:r>
              <a:rPr lang="en-US" dirty="0"/>
              <a:t>.</a:t>
            </a:r>
            <a:endParaRPr lang="en-IN" dirty="0"/>
          </a:p>
        </p:txBody>
      </p:sp>
    </p:spTree>
    <p:extLst>
      <p:ext uri="{BB962C8B-B14F-4D97-AF65-F5344CB8AC3E}">
        <p14:creationId xmlns:p14="http://schemas.microsoft.com/office/powerpoint/2010/main" val="36032378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CA2D54-7B24-6313-C9C9-01544CC9B99A}"/>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27C0D0B8-8C1A-14D4-45F8-C70D412E9ADA}"/>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2992265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4D437E-2D55-405A-A2B6-40D7C87DB008}"/>
              </a:ext>
            </a:extLst>
          </p:cNvPr>
          <p:cNvSpPr>
            <a:spLocks noGrp="1"/>
          </p:cNvSpPr>
          <p:nvPr>
            <p:ph type="title"/>
          </p:nvPr>
        </p:nvSpPr>
        <p:spPr/>
        <p:txBody>
          <a:bodyPr>
            <a:normAutofit/>
          </a:bodyPr>
          <a:lstStyle/>
          <a:p>
            <a:pPr algn="ctr" fontAlgn="base"/>
            <a:r>
              <a:rPr lang="en-US" sz="3200" b="1" dirty="0">
                <a:solidFill>
                  <a:srgbClr val="FF0000"/>
                </a:solidFill>
              </a:rPr>
              <a:t>SQL query results with screenshots or summaries</a:t>
            </a:r>
          </a:p>
        </p:txBody>
      </p:sp>
      <p:graphicFrame>
        <p:nvGraphicFramePr>
          <p:cNvPr id="5" name="Table 4">
            <a:extLst>
              <a:ext uri="{FF2B5EF4-FFF2-40B4-BE49-F238E27FC236}">
                <a16:creationId xmlns:a16="http://schemas.microsoft.com/office/drawing/2014/main" id="{E9218264-4639-656A-B670-5270095D8D48}"/>
              </a:ext>
            </a:extLst>
          </p:cNvPr>
          <p:cNvGraphicFramePr>
            <a:graphicFrameLocks noGrp="1"/>
          </p:cNvGraphicFramePr>
          <p:nvPr>
            <p:extLst>
              <p:ext uri="{D42A27DB-BD31-4B8C-83A1-F6EECF244321}">
                <p14:modId xmlns:p14="http://schemas.microsoft.com/office/powerpoint/2010/main" val="284302843"/>
              </p:ext>
            </p:extLst>
          </p:nvPr>
        </p:nvGraphicFramePr>
        <p:xfrm>
          <a:off x="838200" y="2462054"/>
          <a:ext cx="10515600" cy="3078480"/>
        </p:xfrm>
        <a:graphic>
          <a:graphicData uri="http://schemas.openxmlformats.org/drawingml/2006/table">
            <a:tbl>
              <a:tblPr>
                <a:tableStyleId>{08FB837D-C827-4EFA-A057-4D05807E0F7C}</a:tableStyleId>
              </a:tblPr>
              <a:tblGrid>
                <a:gridCol w="5257800">
                  <a:extLst>
                    <a:ext uri="{9D8B030D-6E8A-4147-A177-3AD203B41FA5}">
                      <a16:colId xmlns:a16="http://schemas.microsoft.com/office/drawing/2014/main" val="2326348390"/>
                    </a:ext>
                  </a:extLst>
                </a:gridCol>
                <a:gridCol w="5257800">
                  <a:extLst>
                    <a:ext uri="{9D8B030D-6E8A-4147-A177-3AD203B41FA5}">
                      <a16:colId xmlns:a16="http://schemas.microsoft.com/office/drawing/2014/main" val="2683494481"/>
                    </a:ext>
                  </a:extLst>
                </a:gridCol>
              </a:tblGrid>
              <a:tr h="0">
                <a:tc>
                  <a:txBody>
                    <a:bodyPr/>
                    <a:lstStyle/>
                    <a:p>
                      <a:pPr>
                        <a:buNone/>
                      </a:pPr>
                      <a:r>
                        <a:rPr lang="en-US" b="1" dirty="0"/>
                        <a:t>Category</a:t>
                      </a:r>
                      <a:endParaRPr lang="en-US" dirty="0"/>
                    </a:p>
                  </a:txBody>
                  <a:tcPr anchor="ctr"/>
                </a:tc>
                <a:tc>
                  <a:txBody>
                    <a:bodyPr/>
                    <a:lstStyle/>
                    <a:p>
                      <a:pPr>
                        <a:buNone/>
                      </a:pPr>
                      <a:r>
                        <a:rPr lang="en-US" b="1"/>
                        <a:t>Details / Examples</a:t>
                      </a:r>
                      <a:endParaRPr lang="en-US"/>
                    </a:p>
                  </a:txBody>
                  <a:tcPr anchor="ctr"/>
                </a:tc>
                <a:extLst>
                  <a:ext uri="{0D108BD9-81ED-4DB2-BD59-A6C34878D82A}">
                    <a16:rowId xmlns:a16="http://schemas.microsoft.com/office/drawing/2014/main" val="3632539153"/>
                  </a:ext>
                </a:extLst>
              </a:tr>
              <a:tr h="0">
                <a:tc>
                  <a:txBody>
                    <a:bodyPr/>
                    <a:lstStyle/>
                    <a:p>
                      <a:pPr>
                        <a:buNone/>
                      </a:pPr>
                      <a:r>
                        <a:rPr lang="en-US" b="1"/>
                        <a:t>Consumers in Cuernavaca</a:t>
                      </a:r>
                      <a:endParaRPr lang="en-US"/>
                    </a:p>
                  </a:txBody>
                  <a:tcPr anchor="ctr"/>
                </a:tc>
                <a:tc>
                  <a:txBody>
                    <a:bodyPr/>
                    <a:lstStyle/>
                    <a:p>
                      <a:pPr>
                        <a:buNone/>
                      </a:pPr>
                      <a:r>
                        <a:rPr lang="en-US"/>
                        <a:t>C001: Alice (28, Student), C002: Bob (35, Engineer), C005: Elena (32, Teacher)</a:t>
                      </a:r>
                    </a:p>
                  </a:txBody>
                  <a:tcPr anchor="ctr"/>
                </a:tc>
                <a:extLst>
                  <a:ext uri="{0D108BD9-81ED-4DB2-BD59-A6C34878D82A}">
                    <a16:rowId xmlns:a16="http://schemas.microsoft.com/office/drawing/2014/main" val="2633937414"/>
                  </a:ext>
                </a:extLst>
              </a:tr>
              <a:tr h="0">
                <a:tc>
                  <a:txBody>
                    <a:bodyPr/>
                    <a:lstStyle/>
                    <a:p>
                      <a:pPr>
                        <a:buNone/>
                      </a:pPr>
                      <a:r>
                        <a:rPr lang="en-US" b="1"/>
                        <a:t>Students Who Smoke</a:t>
                      </a:r>
                      <a:endParaRPr lang="en-US"/>
                    </a:p>
                  </a:txBody>
                  <a:tcPr anchor="ctr"/>
                </a:tc>
                <a:tc>
                  <a:txBody>
                    <a:bodyPr/>
                    <a:lstStyle/>
                    <a:p>
                      <a:pPr>
                        <a:buNone/>
                      </a:pPr>
                      <a:r>
                        <a:rPr lang="en-US"/>
                        <a:t>C001 (28, Student)</a:t>
                      </a:r>
                    </a:p>
                  </a:txBody>
                  <a:tcPr anchor="ctr"/>
                </a:tc>
                <a:extLst>
                  <a:ext uri="{0D108BD9-81ED-4DB2-BD59-A6C34878D82A}">
                    <a16:rowId xmlns:a16="http://schemas.microsoft.com/office/drawing/2014/main" val="2123368724"/>
                  </a:ext>
                </a:extLst>
              </a:tr>
              <a:tr h="0">
                <a:tc>
                  <a:txBody>
                    <a:bodyPr/>
                    <a:lstStyle/>
                    <a:p>
                      <a:pPr>
                        <a:buNone/>
                      </a:pPr>
                      <a:r>
                        <a:rPr lang="en-US" b="1"/>
                        <a:t>Restaurants – Wine &amp; Beer, Medium Price</a:t>
                      </a:r>
                      <a:endParaRPr lang="en-US"/>
                    </a:p>
                  </a:txBody>
                  <a:tcPr anchor="ctr"/>
                </a:tc>
                <a:tc>
                  <a:txBody>
                    <a:bodyPr/>
                    <a:lstStyle/>
                    <a:p>
                      <a:pPr>
                        <a:buNone/>
                      </a:pPr>
                      <a:r>
                        <a:rPr lang="en-US"/>
                        <a:t>El Camino Real, Cuernavaca</a:t>
                      </a:r>
                    </a:p>
                  </a:txBody>
                  <a:tcPr anchor="ctr"/>
                </a:tc>
                <a:extLst>
                  <a:ext uri="{0D108BD9-81ED-4DB2-BD59-A6C34878D82A}">
                    <a16:rowId xmlns:a16="http://schemas.microsoft.com/office/drawing/2014/main" val="227317927"/>
                  </a:ext>
                </a:extLst>
              </a:tr>
              <a:tr h="0">
                <a:tc>
                  <a:txBody>
                    <a:bodyPr/>
                    <a:lstStyle/>
                    <a:p>
                      <a:pPr>
                        <a:buNone/>
                      </a:pPr>
                      <a:r>
                        <a:rPr lang="en-US" b="1"/>
                        <a:t>Highly Satisfactory Ratings (Overall=2)</a:t>
                      </a:r>
                      <a:endParaRPr lang="en-US"/>
                    </a:p>
                  </a:txBody>
                  <a:tcPr anchor="ctr"/>
                </a:tc>
                <a:tc>
                  <a:txBody>
                    <a:bodyPr/>
                    <a:lstStyle/>
                    <a:p>
                      <a:pPr>
                        <a:buNone/>
                      </a:pPr>
                      <a:r>
                        <a:rPr lang="en-US"/>
                        <a:t>R001 by C001 &amp; C005, R002 by C002, R003 by C003</a:t>
                      </a:r>
                    </a:p>
                  </a:txBody>
                  <a:tcPr anchor="ctr"/>
                </a:tc>
                <a:extLst>
                  <a:ext uri="{0D108BD9-81ED-4DB2-BD59-A6C34878D82A}">
                    <a16:rowId xmlns:a16="http://schemas.microsoft.com/office/drawing/2014/main" val="2347069552"/>
                  </a:ext>
                </a:extLst>
              </a:tr>
              <a:tr h="0">
                <a:tc>
                  <a:txBody>
                    <a:bodyPr/>
                    <a:lstStyle/>
                    <a:p>
                      <a:pPr>
                        <a:buNone/>
                      </a:pPr>
                      <a:r>
                        <a:rPr lang="en-US" b="1"/>
                        <a:t>Restaurants Below Avg Food Rating</a:t>
                      </a:r>
                      <a:endParaRPr lang="en-US"/>
                    </a:p>
                  </a:txBody>
                  <a:tcPr anchor="ctr"/>
                </a:tc>
                <a:tc>
                  <a:txBody>
                    <a:bodyPr/>
                    <a:lstStyle/>
                    <a:p>
                      <a:pPr>
                        <a:buNone/>
                      </a:pPr>
                      <a:r>
                        <a:rPr lang="es-ES"/>
                        <a:t>Burger Hub (Cuernavaca), La Trattoria (Cuernavaca), Pizza Plaza (Ciudad Victoria)</a:t>
                      </a:r>
                    </a:p>
                  </a:txBody>
                  <a:tcPr anchor="ctr"/>
                </a:tc>
                <a:extLst>
                  <a:ext uri="{0D108BD9-81ED-4DB2-BD59-A6C34878D82A}">
                    <a16:rowId xmlns:a16="http://schemas.microsoft.com/office/drawing/2014/main" val="2497474377"/>
                  </a:ext>
                </a:extLst>
              </a:tr>
              <a:tr h="0">
                <a:tc>
                  <a:txBody>
                    <a:bodyPr/>
                    <a:lstStyle/>
                    <a:p>
                      <a:pPr>
                        <a:buNone/>
                      </a:pPr>
                      <a:r>
                        <a:rPr lang="en-US" b="1"/>
                        <a:t>Top 2 Highest-Rated Restaurants per Cuisine</a:t>
                      </a:r>
                      <a:endParaRPr lang="en-US"/>
                    </a:p>
                  </a:txBody>
                  <a:tcPr anchor="ctr"/>
                </a:tc>
                <a:tc>
                  <a:txBody>
                    <a:bodyPr/>
                    <a:lstStyle/>
                    <a:p>
                      <a:pPr>
                        <a:buNone/>
                      </a:pPr>
                      <a:r>
                        <a:rPr lang="es-ES"/>
                        <a:t>Mexican: El Camino Real &amp; Taco Loco; Italian: La Trattoria; American: Burger Hub; Pizzeria: Pizza Plaza</a:t>
                      </a:r>
                    </a:p>
                  </a:txBody>
                  <a:tcPr anchor="ctr"/>
                </a:tc>
                <a:extLst>
                  <a:ext uri="{0D108BD9-81ED-4DB2-BD59-A6C34878D82A}">
                    <a16:rowId xmlns:a16="http://schemas.microsoft.com/office/drawing/2014/main" val="3770272466"/>
                  </a:ext>
                </a:extLst>
              </a:tr>
              <a:tr h="0">
                <a:tc>
                  <a:txBody>
                    <a:bodyPr/>
                    <a:lstStyle/>
                    <a:p>
                      <a:pPr>
                        <a:buNone/>
                      </a:pPr>
                      <a:r>
                        <a:rPr lang="en-US" b="1"/>
                        <a:t>Consumer-Restaurant Interaction</a:t>
                      </a:r>
                      <a:endParaRPr lang="en-US"/>
                    </a:p>
                  </a:txBody>
                  <a:tcPr anchor="ctr"/>
                </a:tc>
                <a:tc>
                  <a:txBody>
                    <a:bodyPr/>
                    <a:lstStyle/>
                    <a:p>
                      <a:pPr>
                        <a:buNone/>
                      </a:pPr>
                      <a:r>
                        <a:rPr lang="en-US" dirty="0"/>
                        <a:t>C002: La Trattoria (2, At Avg), Burger Hub (0, Below Avg)</a:t>
                      </a:r>
                    </a:p>
                  </a:txBody>
                  <a:tcPr anchor="ctr"/>
                </a:tc>
                <a:extLst>
                  <a:ext uri="{0D108BD9-81ED-4DB2-BD59-A6C34878D82A}">
                    <a16:rowId xmlns:a16="http://schemas.microsoft.com/office/drawing/2014/main" val="1368427745"/>
                  </a:ext>
                </a:extLst>
              </a:tr>
            </a:tbl>
          </a:graphicData>
        </a:graphic>
      </p:graphicFrame>
      <p:sp>
        <p:nvSpPr>
          <p:cNvPr id="7" name="Text Placeholder 6">
            <a:extLst>
              <a:ext uri="{FF2B5EF4-FFF2-40B4-BE49-F238E27FC236}">
                <a16:creationId xmlns:a16="http://schemas.microsoft.com/office/drawing/2014/main" id="{39B850C7-A7A8-061F-0593-41C50F97C96E}"/>
              </a:ext>
            </a:extLst>
          </p:cNvPr>
          <p:cNvSpPr>
            <a:spLocks noGrp="1"/>
          </p:cNvSpPr>
          <p:nvPr>
            <p:ph type="body" idx="1"/>
          </p:nvPr>
        </p:nvSpPr>
        <p:spPr/>
        <p:txBody>
          <a:bodyPr/>
          <a:lstStyle/>
          <a:p>
            <a:pPr marL="114300" indent="0">
              <a:buNone/>
            </a:pPr>
            <a:r>
              <a:rPr lang="en-US" dirty="0"/>
              <a:t>Restaurant &amp; Consumer Analysis – Key Insights</a:t>
            </a:r>
          </a:p>
        </p:txBody>
      </p:sp>
    </p:spTree>
    <p:extLst>
      <p:ext uri="{BB962C8B-B14F-4D97-AF65-F5344CB8AC3E}">
        <p14:creationId xmlns:p14="http://schemas.microsoft.com/office/powerpoint/2010/main" val="37570282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2E9AD-5EC8-B841-043F-732BEFC6051E}"/>
              </a:ext>
            </a:extLst>
          </p:cNvPr>
          <p:cNvSpPr>
            <a:spLocks noGrp="1"/>
          </p:cNvSpPr>
          <p:nvPr>
            <p:ph type="title"/>
          </p:nvPr>
        </p:nvSpPr>
        <p:spPr/>
        <p:txBody>
          <a:bodyPr>
            <a:normAutofit/>
          </a:bodyPr>
          <a:lstStyle/>
          <a:p>
            <a:pPr algn="ctr" fontAlgn="base"/>
            <a:r>
              <a:rPr lang="en-US" sz="3200" b="1" dirty="0">
                <a:solidFill>
                  <a:srgbClr val="FF0000"/>
                </a:solidFill>
              </a:rPr>
              <a:t>Final business insights and recommendations</a:t>
            </a:r>
          </a:p>
        </p:txBody>
      </p:sp>
      <p:sp>
        <p:nvSpPr>
          <p:cNvPr id="3" name="Text Placeholder 2">
            <a:extLst>
              <a:ext uri="{FF2B5EF4-FFF2-40B4-BE49-F238E27FC236}">
                <a16:creationId xmlns:a16="http://schemas.microsoft.com/office/drawing/2014/main" id="{8BC4FD28-C32A-42AB-642A-FD426EB7F854}"/>
              </a:ext>
            </a:extLst>
          </p:cNvPr>
          <p:cNvSpPr>
            <a:spLocks noGrp="1"/>
          </p:cNvSpPr>
          <p:nvPr>
            <p:ph type="body" idx="1"/>
          </p:nvPr>
        </p:nvSpPr>
        <p:spPr>
          <a:xfrm>
            <a:off x="838200" y="1356852"/>
            <a:ext cx="10515600" cy="4820111"/>
          </a:xfrm>
        </p:spPr>
        <p:txBody>
          <a:bodyPr>
            <a:normAutofit/>
          </a:bodyPr>
          <a:lstStyle/>
          <a:p>
            <a:pPr>
              <a:buFont typeface="Arial" panose="020B0604020202020204" pitchFamily="34" charset="0"/>
              <a:buChar char="•"/>
            </a:pPr>
            <a:r>
              <a:rPr lang="en-US" sz="2000" dirty="0"/>
              <a:t>Most active consumers are in Cuernavaca, with students and budget-conscious users shaping dining trends. </a:t>
            </a:r>
          </a:p>
          <a:p>
            <a:pPr>
              <a:buFont typeface="Arial" panose="020B0604020202020204" pitchFamily="34" charset="0"/>
              <a:buChar char="•"/>
            </a:pPr>
            <a:r>
              <a:rPr lang="en-US" sz="2000" dirty="0"/>
              <a:t>Mexican and Italian cuisines are highly preferred, but some consumer preferences lack matching restaurants. </a:t>
            </a:r>
          </a:p>
          <a:p>
            <a:pPr>
              <a:buFont typeface="Arial" panose="020B0604020202020204" pitchFamily="34" charset="0"/>
              <a:buChar char="•"/>
            </a:pPr>
            <a:r>
              <a:rPr lang="en-US" sz="2000" dirty="0"/>
              <a:t>Top-rated restaurants include El Camino Real and Taco Loco, while Burger Hub and La Trattoria need improvement in food and service.</a:t>
            </a:r>
          </a:p>
          <a:p>
            <a:pPr>
              <a:buFont typeface="Arial" panose="020B0604020202020204" pitchFamily="34" charset="0"/>
              <a:buChar char="•"/>
            </a:pPr>
            <a:r>
              <a:rPr lang="en-US" sz="2000" dirty="0"/>
              <a:t>Consumer engagement patterns reveal loyalty and dissatisfaction trends. Operational gaps, such as limited parking or lack of alcohol service, affect satisfaction.</a:t>
            </a:r>
          </a:p>
          <a:p>
            <a:pPr>
              <a:buFont typeface="Arial" panose="020B0604020202020204" pitchFamily="34" charset="0"/>
              <a:buChar char="•"/>
            </a:pPr>
            <a:r>
              <a:rPr lang="en-US" sz="2000" dirty="0"/>
              <a:t> Recommendations include expanding popular cuisines, improving underperforming restaurants, targeting promotions to high-value consumers, enhancing facilities</a:t>
            </a:r>
          </a:p>
          <a:p>
            <a:pPr>
              <a:buFont typeface="Arial" panose="020B0604020202020204" pitchFamily="34" charset="0"/>
              <a:buChar char="•"/>
            </a:pPr>
            <a:r>
              <a:rPr lang="en-US" sz="2000" dirty="0"/>
              <a:t>regularly monitoring feedback to optimize menu, pricing, and overall service for higher satisfaction and business growth.</a:t>
            </a:r>
            <a:endParaRPr lang="en-IN" sz="2000" dirty="0">
              <a:latin typeface="+mn-lt"/>
            </a:endParaRPr>
          </a:p>
        </p:txBody>
      </p:sp>
    </p:spTree>
    <p:extLst>
      <p:ext uri="{BB962C8B-B14F-4D97-AF65-F5344CB8AC3E}">
        <p14:creationId xmlns:p14="http://schemas.microsoft.com/office/powerpoint/2010/main" val="35919774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7D8DE6-30C6-AA33-5F03-A6EA2F07CF87}"/>
              </a:ext>
            </a:extLst>
          </p:cNvPr>
          <p:cNvSpPr>
            <a:spLocks noGrp="1"/>
          </p:cNvSpPr>
          <p:nvPr>
            <p:ph type="title"/>
          </p:nvPr>
        </p:nvSpPr>
        <p:spPr/>
        <p:txBody>
          <a:bodyPr>
            <a:normAutofit/>
          </a:bodyPr>
          <a:lstStyle/>
          <a:p>
            <a:pPr algn="ctr"/>
            <a:r>
              <a:rPr lang="en-IN" sz="3200" b="1" dirty="0">
                <a:solidFill>
                  <a:srgbClr val="FF0000"/>
                </a:solidFill>
                <a:latin typeface="+mn-lt"/>
              </a:rPr>
              <a:t>TABLE OF ABOVE SLIDE INFO</a:t>
            </a:r>
          </a:p>
        </p:txBody>
      </p:sp>
      <p:sp>
        <p:nvSpPr>
          <p:cNvPr id="3" name="Text Placeholder 2">
            <a:extLst>
              <a:ext uri="{FF2B5EF4-FFF2-40B4-BE49-F238E27FC236}">
                <a16:creationId xmlns:a16="http://schemas.microsoft.com/office/drawing/2014/main" id="{57439BE6-85D8-A18A-8673-E76128319A42}"/>
              </a:ext>
            </a:extLst>
          </p:cNvPr>
          <p:cNvSpPr>
            <a:spLocks noGrp="1"/>
          </p:cNvSpPr>
          <p:nvPr>
            <p:ph type="body" idx="1"/>
          </p:nvPr>
        </p:nvSpPr>
        <p:spPr>
          <a:xfrm>
            <a:off x="838200" y="1238865"/>
            <a:ext cx="10515600" cy="4938098"/>
          </a:xfrm>
        </p:spPr>
        <p:txBody>
          <a:bodyPr/>
          <a:lstStyle/>
          <a:p>
            <a:pPr marL="114300" indent="0">
              <a:lnSpc>
                <a:spcPct val="100000"/>
              </a:lnSpc>
              <a:buNone/>
            </a:pPr>
            <a:r>
              <a:rPr lang="en-IN" dirty="0"/>
              <a:t>1</a:t>
            </a:r>
          </a:p>
        </p:txBody>
      </p:sp>
      <p:graphicFrame>
        <p:nvGraphicFramePr>
          <p:cNvPr id="4" name="Table 3">
            <a:extLst>
              <a:ext uri="{FF2B5EF4-FFF2-40B4-BE49-F238E27FC236}">
                <a16:creationId xmlns:a16="http://schemas.microsoft.com/office/drawing/2014/main" id="{2893245E-5C7E-AA20-12D2-25EB3DC8B7D8}"/>
              </a:ext>
            </a:extLst>
          </p:cNvPr>
          <p:cNvGraphicFramePr>
            <a:graphicFrameLocks noGrp="1"/>
          </p:cNvGraphicFramePr>
          <p:nvPr>
            <p:extLst>
              <p:ext uri="{D42A27DB-BD31-4B8C-83A1-F6EECF244321}">
                <p14:modId xmlns:p14="http://schemas.microsoft.com/office/powerpoint/2010/main" val="4187631073"/>
              </p:ext>
            </p:extLst>
          </p:nvPr>
        </p:nvGraphicFramePr>
        <p:xfrm>
          <a:off x="108154" y="1238866"/>
          <a:ext cx="12005188" cy="5062974"/>
        </p:xfrm>
        <a:graphic>
          <a:graphicData uri="http://schemas.openxmlformats.org/drawingml/2006/table">
            <a:tbl>
              <a:tblPr>
                <a:tableStyleId>{08FB837D-C827-4EFA-A057-4D05807E0F7C}</a:tableStyleId>
              </a:tblPr>
              <a:tblGrid>
                <a:gridCol w="6002594">
                  <a:extLst>
                    <a:ext uri="{9D8B030D-6E8A-4147-A177-3AD203B41FA5}">
                      <a16:colId xmlns:a16="http://schemas.microsoft.com/office/drawing/2014/main" val="1828945688"/>
                    </a:ext>
                  </a:extLst>
                </a:gridCol>
                <a:gridCol w="6002594">
                  <a:extLst>
                    <a:ext uri="{9D8B030D-6E8A-4147-A177-3AD203B41FA5}">
                      <a16:colId xmlns:a16="http://schemas.microsoft.com/office/drawing/2014/main" val="696218828"/>
                    </a:ext>
                  </a:extLst>
                </a:gridCol>
              </a:tblGrid>
              <a:tr h="310090">
                <a:tc>
                  <a:txBody>
                    <a:bodyPr/>
                    <a:lstStyle/>
                    <a:p>
                      <a:pPr>
                        <a:buNone/>
                      </a:pPr>
                      <a:r>
                        <a:rPr lang="en-US" sz="1300" b="1"/>
                        <a:t>Category</a:t>
                      </a:r>
                      <a:endParaRPr lang="en-US" sz="1300"/>
                    </a:p>
                  </a:txBody>
                  <a:tcPr marL="83680" marR="83680" marT="41840" marB="41840" anchor="ctr"/>
                </a:tc>
                <a:tc>
                  <a:txBody>
                    <a:bodyPr/>
                    <a:lstStyle/>
                    <a:p>
                      <a:pPr>
                        <a:buNone/>
                      </a:pPr>
                      <a:r>
                        <a:rPr lang="en-US" sz="1300" b="1"/>
                        <a:t>Details / Examples</a:t>
                      </a:r>
                      <a:endParaRPr lang="en-US" sz="1300"/>
                    </a:p>
                  </a:txBody>
                  <a:tcPr marL="83680" marR="83680" marT="41840" marB="41840" anchor="ctr"/>
                </a:tc>
                <a:extLst>
                  <a:ext uri="{0D108BD9-81ED-4DB2-BD59-A6C34878D82A}">
                    <a16:rowId xmlns:a16="http://schemas.microsoft.com/office/drawing/2014/main" val="4028547237"/>
                  </a:ext>
                </a:extLst>
              </a:tr>
              <a:tr h="528098">
                <a:tc>
                  <a:txBody>
                    <a:bodyPr/>
                    <a:lstStyle/>
                    <a:p>
                      <a:pPr>
                        <a:buNone/>
                      </a:pPr>
                      <a:r>
                        <a:rPr lang="en-US" sz="1300" b="1" dirty="0"/>
                        <a:t>Consumers in Cuernavaca</a:t>
                      </a:r>
                      <a:endParaRPr lang="en-US" sz="1300" dirty="0"/>
                    </a:p>
                  </a:txBody>
                  <a:tcPr marL="83680" marR="83680" marT="41840" marB="41840" anchor="ctr"/>
                </a:tc>
                <a:tc>
                  <a:txBody>
                    <a:bodyPr/>
                    <a:lstStyle/>
                    <a:p>
                      <a:pPr>
                        <a:buNone/>
                      </a:pPr>
                      <a:r>
                        <a:rPr lang="en-US" sz="1300"/>
                        <a:t>C001: Alice (28, Student), C002: Bob (35, Engineer), C005: Elena (32, Teacher)</a:t>
                      </a:r>
                    </a:p>
                  </a:txBody>
                  <a:tcPr marL="83680" marR="83680" marT="41840" marB="41840" anchor="ctr"/>
                </a:tc>
                <a:extLst>
                  <a:ext uri="{0D108BD9-81ED-4DB2-BD59-A6C34878D82A}">
                    <a16:rowId xmlns:a16="http://schemas.microsoft.com/office/drawing/2014/main" val="1165761429"/>
                  </a:ext>
                </a:extLst>
              </a:tr>
              <a:tr h="310090">
                <a:tc>
                  <a:txBody>
                    <a:bodyPr/>
                    <a:lstStyle/>
                    <a:p>
                      <a:pPr>
                        <a:buNone/>
                      </a:pPr>
                      <a:r>
                        <a:rPr lang="en-US" sz="1300" b="1"/>
                        <a:t>Students Who Smoke</a:t>
                      </a:r>
                      <a:endParaRPr lang="en-US" sz="1300"/>
                    </a:p>
                  </a:txBody>
                  <a:tcPr marL="83680" marR="83680" marT="41840" marB="41840" anchor="ctr"/>
                </a:tc>
                <a:tc>
                  <a:txBody>
                    <a:bodyPr/>
                    <a:lstStyle/>
                    <a:p>
                      <a:pPr>
                        <a:buNone/>
                      </a:pPr>
                      <a:r>
                        <a:rPr lang="en-US" sz="1300"/>
                        <a:t>C001 (28, Student)</a:t>
                      </a:r>
                    </a:p>
                  </a:txBody>
                  <a:tcPr marL="83680" marR="83680" marT="41840" marB="41840" anchor="ctr"/>
                </a:tc>
                <a:extLst>
                  <a:ext uri="{0D108BD9-81ED-4DB2-BD59-A6C34878D82A}">
                    <a16:rowId xmlns:a16="http://schemas.microsoft.com/office/drawing/2014/main" val="1583712414"/>
                  </a:ext>
                </a:extLst>
              </a:tr>
              <a:tr h="310090">
                <a:tc>
                  <a:txBody>
                    <a:bodyPr/>
                    <a:lstStyle/>
                    <a:p>
                      <a:pPr>
                        <a:buNone/>
                      </a:pPr>
                      <a:r>
                        <a:rPr lang="en-US" sz="1300" b="1"/>
                        <a:t>Restaurants – Wine &amp; Beer, Medium Price</a:t>
                      </a:r>
                      <a:endParaRPr lang="en-US" sz="1300"/>
                    </a:p>
                  </a:txBody>
                  <a:tcPr marL="83680" marR="83680" marT="41840" marB="41840" anchor="ctr"/>
                </a:tc>
                <a:tc>
                  <a:txBody>
                    <a:bodyPr/>
                    <a:lstStyle/>
                    <a:p>
                      <a:pPr>
                        <a:buNone/>
                      </a:pPr>
                      <a:r>
                        <a:rPr lang="en-US" sz="1300"/>
                        <a:t>El Camino Real, Cuernavaca</a:t>
                      </a:r>
                    </a:p>
                  </a:txBody>
                  <a:tcPr marL="83680" marR="83680" marT="41840" marB="41840" anchor="ctr"/>
                </a:tc>
                <a:extLst>
                  <a:ext uri="{0D108BD9-81ED-4DB2-BD59-A6C34878D82A}">
                    <a16:rowId xmlns:a16="http://schemas.microsoft.com/office/drawing/2014/main" val="830108114"/>
                  </a:ext>
                </a:extLst>
              </a:tr>
              <a:tr h="310090">
                <a:tc>
                  <a:txBody>
                    <a:bodyPr/>
                    <a:lstStyle/>
                    <a:p>
                      <a:pPr>
                        <a:buNone/>
                      </a:pPr>
                      <a:r>
                        <a:rPr lang="en-US" sz="1300" b="1"/>
                        <a:t>Highly Satisfactory Ratings (Overall=2)</a:t>
                      </a:r>
                      <a:endParaRPr lang="en-US" sz="1300"/>
                    </a:p>
                  </a:txBody>
                  <a:tcPr marL="83680" marR="83680" marT="41840" marB="41840" anchor="ctr"/>
                </a:tc>
                <a:tc>
                  <a:txBody>
                    <a:bodyPr/>
                    <a:lstStyle/>
                    <a:p>
                      <a:pPr>
                        <a:buNone/>
                      </a:pPr>
                      <a:r>
                        <a:rPr lang="en-US" sz="1300"/>
                        <a:t>R001 by C001 &amp; C005, R002 by C002, R003 by C003</a:t>
                      </a:r>
                    </a:p>
                  </a:txBody>
                  <a:tcPr marL="83680" marR="83680" marT="41840" marB="41840" anchor="ctr"/>
                </a:tc>
                <a:extLst>
                  <a:ext uri="{0D108BD9-81ED-4DB2-BD59-A6C34878D82A}">
                    <a16:rowId xmlns:a16="http://schemas.microsoft.com/office/drawing/2014/main" val="1283146295"/>
                  </a:ext>
                </a:extLst>
              </a:tr>
              <a:tr h="528098">
                <a:tc>
                  <a:txBody>
                    <a:bodyPr/>
                    <a:lstStyle/>
                    <a:p>
                      <a:pPr>
                        <a:buNone/>
                      </a:pPr>
                      <a:r>
                        <a:rPr lang="en-US" sz="1300" b="1"/>
                        <a:t>Restaurants Below Avg Food Rating</a:t>
                      </a:r>
                      <a:endParaRPr lang="en-US" sz="1300"/>
                    </a:p>
                  </a:txBody>
                  <a:tcPr marL="83680" marR="83680" marT="41840" marB="41840" anchor="ctr"/>
                </a:tc>
                <a:tc>
                  <a:txBody>
                    <a:bodyPr/>
                    <a:lstStyle/>
                    <a:p>
                      <a:pPr>
                        <a:buNone/>
                      </a:pPr>
                      <a:r>
                        <a:rPr lang="es-ES" sz="1300"/>
                        <a:t>Burger Hub (Cuernavaca), La Trattoria (Cuernavaca), Pizza Plaza (Ciudad Victoria)</a:t>
                      </a:r>
                    </a:p>
                  </a:txBody>
                  <a:tcPr marL="83680" marR="83680" marT="41840" marB="41840" anchor="ctr"/>
                </a:tc>
                <a:extLst>
                  <a:ext uri="{0D108BD9-81ED-4DB2-BD59-A6C34878D82A}">
                    <a16:rowId xmlns:a16="http://schemas.microsoft.com/office/drawing/2014/main" val="1353437840"/>
                  </a:ext>
                </a:extLst>
              </a:tr>
              <a:tr h="528098">
                <a:tc>
                  <a:txBody>
                    <a:bodyPr/>
                    <a:lstStyle/>
                    <a:p>
                      <a:pPr>
                        <a:buNone/>
                      </a:pPr>
                      <a:r>
                        <a:rPr lang="en-US" sz="1300" b="1"/>
                        <a:t>Top 2 Highest-Rated Restaurants per Cuisine</a:t>
                      </a:r>
                      <a:endParaRPr lang="en-US" sz="1300"/>
                    </a:p>
                  </a:txBody>
                  <a:tcPr marL="83680" marR="83680" marT="41840" marB="41840" anchor="ctr"/>
                </a:tc>
                <a:tc>
                  <a:txBody>
                    <a:bodyPr/>
                    <a:lstStyle/>
                    <a:p>
                      <a:pPr>
                        <a:buNone/>
                      </a:pPr>
                      <a:r>
                        <a:rPr lang="es-ES" sz="1300"/>
                        <a:t>Mexican: El Camino Real &amp; Taco Loco; Italian: La Trattoria; American: Burger Hub; Pizzeria: Pizza Plaza</a:t>
                      </a:r>
                    </a:p>
                  </a:txBody>
                  <a:tcPr marL="83680" marR="83680" marT="41840" marB="41840" anchor="ctr"/>
                </a:tc>
                <a:extLst>
                  <a:ext uri="{0D108BD9-81ED-4DB2-BD59-A6C34878D82A}">
                    <a16:rowId xmlns:a16="http://schemas.microsoft.com/office/drawing/2014/main" val="1914392724"/>
                  </a:ext>
                </a:extLst>
              </a:tr>
              <a:tr h="310090">
                <a:tc>
                  <a:txBody>
                    <a:bodyPr/>
                    <a:lstStyle/>
                    <a:p>
                      <a:pPr>
                        <a:buNone/>
                      </a:pPr>
                      <a:r>
                        <a:rPr lang="en-US" sz="1300" b="1"/>
                        <a:t>Consumer-Restaurant Interaction</a:t>
                      </a:r>
                      <a:endParaRPr lang="en-US" sz="1300"/>
                    </a:p>
                  </a:txBody>
                  <a:tcPr marL="83680" marR="83680" marT="41840" marB="41840" anchor="ctr"/>
                </a:tc>
                <a:tc>
                  <a:txBody>
                    <a:bodyPr/>
                    <a:lstStyle/>
                    <a:p>
                      <a:pPr>
                        <a:buNone/>
                      </a:pPr>
                      <a:r>
                        <a:rPr lang="en-US" sz="1300"/>
                        <a:t>C002: La Trattoria (2, At Avg), Burger Hub (0, Below Avg)</a:t>
                      </a:r>
                    </a:p>
                  </a:txBody>
                  <a:tcPr marL="83680" marR="83680" marT="41840" marB="41840" anchor="ctr"/>
                </a:tc>
                <a:extLst>
                  <a:ext uri="{0D108BD9-81ED-4DB2-BD59-A6C34878D82A}">
                    <a16:rowId xmlns:a16="http://schemas.microsoft.com/office/drawing/2014/main" val="3770229996"/>
                  </a:ext>
                </a:extLst>
              </a:tr>
              <a:tr h="964115">
                <a:tc>
                  <a:txBody>
                    <a:bodyPr/>
                    <a:lstStyle/>
                    <a:p>
                      <a:pPr>
                        <a:buNone/>
                      </a:pPr>
                      <a:r>
                        <a:rPr lang="en-US" sz="1300" b="1"/>
                        <a:t>Business Insights</a:t>
                      </a:r>
                      <a:endParaRPr lang="en-US" sz="1300"/>
                    </a:p>
                  </a:txBody>
                  <a:tcPr marL="83680" marR="83680" marT="41840" marB="41840" anchor="ctr"/>
                </a:tc>
                <a:tc>
                  <a:txBody>
                    <a:bodyPr/>
                    <a:lstStyle/>
                    <a:p>
                      <a:pPr>
                        <a:buNone/>
                      </a:pPr>
                      <a:r>
                        <a:rPr lang="en-US" sz="1300"/>
                        <a:t>Consumers influence trends by location, age, and budget; Mexican &amp; Italian cuisines dominate; top performers: El Camino Real &amp; Taco Loco; underperformers: Burger Hub, La Trattoria.</a:t>
                      </a:r>
                    </a:p>
                  </a:txBody>
                  <a:tcPr marL="83680" marR="83680" marT="41840" marB="41840" anchor="ctr"/>
                </a:tc>
                <a:extLst>
                  <a:ext uri="{0D108BD9-81ED-4DB2-BD59-A6C34878D82A}">
                    <a16:rowId xmlns:a16="http://schemas.microsoft.com/office/drawing/2014/main" val="1508580143"/>
                  </a:ext>
                </a:extLst>
              </a:tr>
              <a:tr h="964115">
                <a:tc>
                  <a:txBody>
                    <a:bodyPr/>
                    <a:lstStyle/>
                    <a:p>
                      <a:pPr>
                        <a:buNone/>
                      </a:pPr>
                      <a:r>
                        <a:rPr lang="en-US" sz="1300" b="1"/>
                        <a:t>Recommendations</a:t>
                      </a:r>
                      <a:endParaRPr lang="en-US" sz="1300"/>
                    </a:p>
                  </a:txBody>
                  <a:tcPr marL="83680" marR="83680" marT="41840" marB="41840" anchor="ctr"/>
                </a:tc>
                <a:tc>
                  <a:txBody>
                    <a:bodyPr/>
                    <a:lstStyle/>
                    <a:p>
                      <a:pPr>
                        <a:buNone/>
                      </a:pPr>
                      <a:r>
                        <a:rPr lang="en-US" sz="1300" dirty="0"/>
                        <a:t>Expand popular cuisines, improve food/service in underperforming restaurants, target promotions to high-value consumers, enhance facilities, monitor feedback to optimize menu, pricing, and service.</a:t>
                      </a:r>
                    </a:p>
                  </a:txBody>
                  <a:tcPr marL="83680" marR="83680" marT="41840" marB="41840" anchor="ctr"/>
                </a:tc>
                <a:extLst>
                  <a:ext uri="{0D108BD9-81ED-4DB2-BD59-A6C34878D82A}">
                    <a16:rowId xmlns:a16="http://schemas.microsoft.com/office/drawing/2014/main" val="774511531"/>
                  </a:ext>
                </a:extLst>
              </a:tr>
            </a:tbl>
          </a:graphicData>
        </a:graphic>
      </p:graphicFrame>
    </p:spTree>
    <p:extLst>
      <p:ext uri="{BB962C8B-B14F-4D97-AF65-F5344CB8AC3E}">
        <p14:creationId xmlns:p14="http://schemas.microsoft.com/office/powerpoint/2010/main" val="31885151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BCFDC75-A806-7858-B26D-F27BD59D235B}"/>
              </a:ext>
            </a:extLst>
          </p:cNvPr>
          <p:cNvSpPr>
            <a:spLocks noGrp="1"/>
          </p:cNvSpPr>
          <p:nvPr>
            <p:ph type="title"/>
          </p:nvPr>
        </p:nvSpPr>
        <p:spPr>
          <a:xfrm>
            <a:off x="838200" y="255640"/>
            <a:ext cx="10515600" cy="1396180"/>
          </a:xfrm>
        </p:spPr>
        <p:txBody>
          <a:bodyPr>
            <a:normAutofit/>
          </a:bodyPr>
          <a:lstStyle/>
          <a:p>
            <a:pPr algn="ctr"/>
            <a:r>
              <a:rPr lang="en-US" sz="3200" b="1" dirty="0">
                <a:solidFill>
                  <a:srgbClr val="FF0000"/>
                </a:solidFill>
              </a:rPr>
              <a:t>Conclusion (Key finding overall) </a:t>
            </a:r>
            <a:br>
              <a:rPr lang="en-US" sz="3200" b="1" dirty="0">
                <a:solidFill>
                  <a:srgbClr val="FF0000"/>
                </a:solidFill>
              </a:rPr>
            </a:br>
            <a:endParaRPr lang="en-IN" sz="3200" b="1" dirty="0">
              <a:solidFill>
                <a:srgbClr val="FF0000"/>
              </a:solidFill>
              <a:latin typeface="+mn-lt"/>
            </a:endParaRPr>
          </a:p>
        </p:txBody>
      </p:sp>
      <p:sp>
        <p:nvSpPr>
          <p:cNvPr id="5" name="TextBox 4">
            <a:extLst>
              <a:ext uri="{FF2B5EF4-FFF2-40B4-BE49-F238E27FC236}">
                <a16:creationId xmlns:a16="http://schemas.microsoft.com/office/drawing/2014/main" id="{B757BCBB-069A-A14E-5719-28B6734DA315}"/>
              </a:ext>
            </a:extLst>
          </p:cNvPr>
          <p:cNvSpPr txBox="1"/>
          <p:nvPr/>
        </p:nvSpPr>
        <p:spPr>
          <a:xfrm>
            <a:off x="412955" y="1229032"/>
            <a:ext cx="11041626" cy="4893647"/>
          </a:xfrm>
          <a:prstGeom prst="rect">
            <a:avLst/>
          </a:prstGeom>
          <a:noFill/>
        </p:spPr>
        <p:txBody>
          <a:bodyPr wrap="square">
            <a:spAutoFit/>
          </a:bodyPr>
          <a:lstStyle/>
          <a:p>
            <a:pPr marL="285750" indent="-285750">
              <a:buFont typeface="Arial" panose="020B0604020202020204" pitchFamily="34" charset="0"/>
              <a:buChar char="•"/>
            </a:pPr>
            <a:r>
              <a:rPr lang="en-US" sz="2400" dirty="0"/>
              <a:t>The analysis reveals that consumer behavior is heavily influenced by location, age, occupation, and budget. </a:t>
            </a:r>
          </a:p>
          <a:p>
            <a:pPr marL="285750" indent="-285750">
              <a:buFont typeface="Arial" panose="020B0604020202020204" pitchFamily="34" charset="0"/>
              <a:buChar char="•"/>
            </a:pPr>
            <a:r>
              <a:rPr lang="en-US" sz="2400" dirty="0"/>
              <a:t>Cuernavaca hosts the most active consumers, with students and budget-conscious users shaping dining trends. </a:t>
            </a:r>
          </a:p>
          <a:p>
            <a:pPr marL="285750" indent="-285750">
              <a:buFont typeface="Arial" panose="020B0604020202020204" pitchFamily="34" charset="0"/>
              <a:buChar char="•"/>
            </a:pPr>
            <a:r>
              <a:rPr lang="en-US" sz="2400" dirty="0"/>
              <a:t>Mexican and Italian cuisines are highly preferred, but some consumer preferences lack sufficient restaurant options. </a:t>
            </a:r>
          </a:p>
          <a:p>
            <a:pPr marL="285750" indent="-285750">
              <a:buFont typeface="Arial" panose="020B0604020202020204" pitchFamily="34" charset="0"/>
              <a:buChar char="•"/>
            </a:pPr>
            <a:r>
              <a:rPr lang="en-US" sz="2400" dirty="0"/>
              <a:t>El Camino Real and Taco Loco are consistently top-rated, while Burger Hub and La Trattoria require improvements in food and service. </a:t>
            </a:r>
          </a:p>
          <a:p>
            <a:pPr marL="285750" indent="-285750">
              <a:buFont typeface="Arial" panose="020B0604020202020204" pitchFamily="34" charset="0"/>
              <a:buChar char="•"/>
            </a:pPr>
            <a:r>
              <a:rPr lang="en-US" sz="2400" dirty="0"/>
              <a:t>Consumer engagement patterns highlight loyalty and dissatisfaction trends. </a:t>
            </a:r>
          </a:p>
          <a:p>
            <a:pPr marL="285750" indent="-285750">
              <a:buFont typeface="Arial" panose="020B0604020202020204" pitchFamily="34" charset="0"/>
              <a:buChar char="•"/>
            </a:pPr>
            <a:r>
              <a:rPr lang="en-US" sz="2400" dirty="0"/>
              <a:t>Operational factors like parking, pricing, and alcohol service impact satisfaction. </a:t>
            </a:r>
          </a:p>
          <a:p>
            <a:pPr marL="285750" indent="-285750">
              <a:buFont typeface="Arial" panose="020B0604020202020204" pitchFamily="34" charset="0"/>
              <a:buChar char="•"/>
            </a:pPr>
            <a:r>
              <a:rPr lang="en-US" sz="2400" dirty="0"/>
              <a:t>Overall, aligning restaurant offerings with consumer preferences and improving service quality can drive higher satisfaction and business growth.</a:t>
            </a:r>
          </a:p>
        </p:txBody>
      </p:sp>
    </p:spTree>
    <p:extLst>
      <p:ext uri="{BB962C8B-B14F-4D97-AF65-F5344CB8AC3E}">
        <p14:creationId xmlns:p14="http://schemas.microsoft.com/office/powerpoint/2010/main" val="6833850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5C59DE-AEE8-E98F-D85A-5663F40BB957}"/>
              </a:ext>
            </a:extLst>
          </p:cNvPr>
          <p:cNvSpPr>
            <a:spLocks noGrp="1"/>
          </p:cNvSpPr>
          <p:nvPr>
            <p:ph type="title"/>
          </p:nvPr>
        </p:nvSpPr>
        <p:spPr/>
        <p:txBody>
          <a:bodyPr>
            <a:normAutofit/>
          </a:bodyPr>
          <a:lstStyle/>
          <a:p>
            <a:r>
              <a:rPr lang="en-US" sz="4000" b="1" dirty="0">
                <a:solidFill>
                  <a:srgbClr val="FF0000"/>
                </a:solidFill>
              </a:rPr>
              <a:t>Q&amp;A – Restaurant &amp; Consumer Analysis Project</a:t>
            </a:r>
          </a:p>
        </p:txBody>
      </p:sp>
      <p:sp>
        <p:nvSpPr>
          <p:cNvPr id="3" name="Text Placeholder 2">
            <a:extLst>
              <a:ext uri="{FF2B5EF4-FFF2-40B4-BE49-F238E27FC236}">
                <a16:creationId xmlns:a16="http://schemas.microsoft.com/office/drawing/2014/main" id="{E6D395F8-7C82-E87F-E05D-6164AC86CAE9}"/>
              </a:ext>
            </a:extLst>
          </p:cNvPr>
          <p:cNvSpPr>
            <a:spLocks noGrp="1"/>
          </p:cNvSpPr>
          <p:nvPr>
            <p:ph type="body" idx="1"/>
          </p:nvPr>
        </p:nvSpPr>
        <p:spPr>
          <a:xfrm>
            <a:off x="838200" y="1415845"/>
            <a:ext cx="10515600" cy="4761118"/>
          </a:xfrm>
        </p:spPr>
        <p:txBody>
          <a:bodyPr>
            <a:normAutofit fontScale="70000" lnSpcReduction="20000"/>
          </a:bodyPr>
          <a:lstStyle/>
          <a:p>
            <a:r>
              <a:rPr lang="en-US" sz="2600" b="1" dirty="0"/>
              <a:t>Q1:</a:t>
            </a:r>
            <a:r>
              <a:rPr lang="en-US" sz="2600" dirty="0"/>
              <a:t> What was the main objective of the project?</a:t>
            </a:r>
          </a:p>
          <a:p>
            <a:pPr marL="114300" indent="0">
              <a:buNone/>
            </a:pPr>
            <a:r>
              <a:rPr lang="en-US" sz="2600" dirty="0"/>
              <a:t>      </a:t>
            </a:r>
            <a:r>
              <a:rPr lang="en-US" sz="2600" b="1" dirty="0"/>
              <a:t>Answer:</a:t>
            </a:r>
            <a:r>
              <a:rPr lang="en-US" sz="2600" dirty="0"/>
              <a:t> To analyze consumer behavior, restaurant performance, and </a:t>
            </a:r>
          </a:p>
          <a:p>
            <a:pPr marL="114300" indent="0">
              <a:buNone/>
            </a:pPr>
            <a:r>
              <a:rPr lang="en-US" sz="2600" dirty="0"/>
              <a:t>      cuisine  preferences to improve service, offerings, and customer satisfaction.</a:t>
            </a:r>
          </a:p>
          <a:p>
            <a:r>
              <a:rPr lang="en-US" sz="2600" b="1" dirty="0"/>
              <a:t>Q2:</a:t>
            </a:r>
            <a:r>
              <a:rPr lang="en-US" sz="2600" dirty="0"/>
              <a:t> Which consumers were most active?</a:t>
            </a:r>
          </a:p>
          <a:p>
            <a:pPr marL="114300" indent="0">
              <a:buNone/>
            </a:pPr>
            <a:r>
              <a:rPr lang="en-US" sz="2600" b="1" dirty="0"/>
              <a:t>      Answer:</a:t>
            </a:r>
            <a:r>
              <a:rPr lang="en-US" sz="2600" dirty="0"/>
              <a:t> Consumers in Cuernavaca, especially students and </a:t>
            </a:r>
          </a:p>
          <a:p>
            <a:pPr marL="114300" indent="0">
              <a:buNone/>
            </a:pPr>
            <a:r>
              <a:rPr lang="en-US" sz="2600" dirty="0"/>
              <a:t>     budget-conscious users.</a:t>
            </a:r>
          </a:p>
          <a:p>
            <a:r>
              <a:rPr lang="en-US" sz="2600" b="1" dirty="0"/>
              <a:t>Q3:</a:t>
            </a:r>
            <a:r>
              <a:rPr lang="en-US" sz="2600" dirty="0"/>
              <a:t> Which restaurants performed best and worst?</a:t>
            </a:r>
          </a:p>
          <a:p>
            <a:pPr marL="114300" indent="0">
              <a:buNone/>
            </a:pPr>
            <a:r>
              <a:rPr lang="en-US" sz="2600" b="1" dirty="0"/>
              <a:t>      Answer:</a:t>
            </a:r>
            <a:r>
              <a:rPr lang="en-US" sz="2600" dirty="0"/>
              <a:t> Top-rated: El Camino Real, Taco Loco. Underperforming: Burger Hub,</a:t>
            </a:r>
          </a:p>
          <a:p>
            <a:pPr marL="114300" indent="0">
              <a:buNone/>
            </a:pPr>
            <a:r>
              <a:rPr lang="en-US" sz="2600" dirty="0"/>
              <a:t>      La Trattoria.</a:t>
            </a:r>
          </a:p>
          <a:p>
            <a:r>
              <a:rPr lang="en-US" sz="2600" b="1" dirty="0"/>
              <a:t>Q4:</a:t>
            </a:r>
            <a:r>
              <a:rPr lang="en-US" sz="2600" dirty="0"/>
              <a:t> Which cuisines were most preferred?</a:t>
            </a:r>
          </a:p>
          <a:p>
            <a:pPr marL="114300" indent="0">
              <a:buNone/>
            </a:pPr>
            <a:r>
              <a:rPr lang="en-US" sz="2600" b="1" dirty="0"/>
              <a:t>       Answer:</a:t>
            </a:r>
            <a:r>
              <a:rPr lang="en-US" sz="2600" dirty="0"/>
              <a:t> Mexican and Italian.</a:t>
            </a:r>
          </a:p>
          <a:p>
            <a:r>
              <a:rPr lang="en-US" sz="2600" b="1" dirty="0"/>
              <a:t>Q5:</a:t>
            </a:r>
            <a:r>
              <a:rPr lang="en-US" sz="2600" dirty="0"/>
              <a:t> Key recommendation for businesses?</a:t>
            </a:r>
          </a:p>
          <a:p>
            <a:pPr marL="114300" indent="0">
              <a:buNone/>
            </a:pPr>
            <a:r>
              <a:rPr lang="en-US" sz="2600" b="1" dirty="0"/>
              <a:t>       Answer:</a:t>
            </a:r>
            <a:r>
              <a:rPr lang="en-US" sz="2600" dirty="0"/>
              <a:t> Expand popular cuisines, improve food/service, target promotions,</a:t>
            </a:r>
          </a:p>
          <a:p>
            <a:pPr marL="114300" indent="0">
              <a:buNone/>
            </a:pPr>
            <a:r>
              <a:rPr lang="en-US" sz="2600" dirty="0"/>
              <a:t>      enhance facilities,   and monitor feedback.</a:t>
            </a:r>
          </a:p>
          <a:p>
            <a:endParaRPr lang="en-US" dirty="0"/>
          </a:p>
        </p:txBody>
      </p:sp>
    </p:spTree>
    <p:extLst>
      <p:ext uri="{BB962C8B-B14F-4D97-AF65-F5344CB8AC3E}">
        <p14:creationId xmlns:p14="http://schemas.microsoft.com/office/powerpoint/2010/main" val="20242255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0D3CEC-6AC8-589D-F2F2-04A13D6EE080}"/>
              </a:ext>
            </a:extLst>
          </p:cNvPr>
          <p:cNvSpPr>
            <a:spLocks noGrp="1"/>
          </p:cNvSpPr>
          <p:nvPr>
            <p:ph type="title"/>
          </p:nvPr>
        </p:nvSpPr>
        <p:spPr>
          <a:xfrm>
            <a:off x="831850" y="147484"/>
            <a:ext cx="10515600" cy="1936955"/>
          </a:xfrm>
        </p:spPr>
        <p:txBody>
          <a:bodyPr>
            <a:noAutofit/>
          </a:bodyPr>
          <a:lstStyle/>
          <a:p>
            <a:r>
              <a:rPr lang="en-US" sz="4000" b="1" dirty="0">
                <a:solidFill>
                  <a:srgbClr val="FF0000"/>
                </a:solidFill>
              </a:rPr>
              <a:t> Experience/Challenges working on SQL – Data Analysis Project.</a:t>
            </a:r>
            <a:br>
              <a:rPr lang="en-US" sz="4000" b="1" dirty="0">
                <a:solidFill>
                  <a:srgbClr val="FF0000"/>
                </a:solidFill>
              </a:rPr>
            </a:br>
            <a:endParaRPr lang="en-US" sz="4000" dirty="0">
              <a:solidFill>
                <a:srgbClr val="FF0000"/>
              </a:solidFill>
            </a:endParaRPr>
          </a:p>
        </p:txBody>
      </p:sp>
      <p:sp>
        <p:nvSpPr>
          <p:cNvPr id="21" name="Rectangle 10">
            <a:extLst>
              <a:ext uri="{FF2B5EF4-FFF2-40B4-BE49-F238E27FC236}">
                <a16:creationId xmlns:a16="http://schemas.microsoft.com/office/drawing/2014/main" id="{81DD9FBC-0292-0A4A-8696-77B02836344D}"/>
              </a:ext>
            </a:extLst>
          </p:cNvPr>
          <p:cNvSpPr>
            <a:spLocks noGrp="1" noChangeArrowheads="1"/>
          </p:cNvSpPr>
          <p:nvPr>
            <p:ph type="body" idx="1"/>
          </p:nvPr>
        </p:nvSpPr>
        <p:spPr bwMode="auto">
          <a:xfrm>
            <a:off x="392917" y="1263195"/>
            <a:ext cx="12123173" cy="49859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bg2">
                    <a:lumMod val="50000"/>
                  </a:schemeClr>
                </a:solidFill>
                <a:effectLst/>
                <a:latin typeface="Arial" panose="020B0604020202020204" pitchFamily="34" charset="0"/>
              </a:rPr>
              <a:t>					</a:t>
            </a:r>
            <a:r>
              <a:rPr kumimoji="0" lang="en-US" altLang="en-US" sz="1800" b="1" i="0" u="none" strike="noStrike" cap="none" normalizeH="0" baseline="0" dirty="0">
                <a:ln>
                  <a:noFill/>
                </a:ln>
                <a:solidFill>
                  <a:srgbClr val="FF0000"/>
                </a:solidFill>
                <a:effectLst/>
                <a:latin typeface="Arial" panose="020B0604020202020204" pitchFamily="34" charset="0"/>
              </a:rPr>
              <a:t>EXPERIENCE</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latin typeface="Arial" panose="020B0604020202020204" pitchFamily="34" charset="0"/>
              </a:rPr>
              <a:t>Gained hands-on experience designing relational databases </a:t>
            </a:r>
          </a:p>
          <a:p>
            <a:pPr marL="0" marR="0" lvl="0" indent="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chemeClr val="tx1"/>
                </a:solidFill>
                <a:effectLst/>
                <a:latin typeface="Arial" panose="020B0604020202020204" pitchFamily="34" charset="0"/>
              </a:rPr>
              <a:t>    with multiple tables and relationships.</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latin typeface="Arial" panose="020B0604020202020204" pitchFamily="34" charset="0"/>
              </a:rPr>
              <a:t>Practiced advanced SQL queries including JOINs, subqueries,</a:t>
            </a:r>
          </a:p>
          <a:p>
            <a:pPr marL="0" marR="0" lvl="0" indent="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chemeClr val="tx1"/>
                </a:solidFill>
                <a:effectLst/>
                <a:latin typeface="Arial" panose="020B0604020202020204" pitchFamily="34" charset="0"/>
              </a:rPr>
              <a:t>    CTEs, window functions, views, and stored procedures.</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latin typeface="Arial" panose="020B0604020202020204" pitchFamily="34" charset="0"/>
              </a:rPr>
              <a:t>Developed insights from consumer behavior, restaurant performance, and cuisine preferences using real data.</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latin typeface="Arial" panose="020B0604020202020204" pitchFamily="34" charset="0"/>
              </a:rPr>
              <a:t>Learned to segment consumers, rank restaurants, and </a:t>
            </a:r>
            <a:r>
              <a:rPr lang="en-US" altLang="en-US" dirty="0">
                <a:solidFill>
                  <a:schemeClr val="tx1"/>
                </a:solidFill>
                <a:latin typeface="Arial" panose="020B0604020202020204" pitchFamily="34" charset="0"/>
              </a:rPr>
              <a:t> </a:t>
            </a:r>
            <a:r>
              <a:rPr kumimoji="0" lang="en-US" altLang="en-US" b="0" i="0" u="none" strike="noStrike" cap="none" normalizeH="0" baseline="0" dirty="0">
                <a:ln>
                  <a:noFill/>
                </a:ln>
                <a:solidFill>
                  <a:schemeClr val="tx1"/>
                </a:solidFill>
                <a:effectLst/>
                <a:latin typeface="Arial" panose="020B0604020202020204" pitchFamily="34" charset="0"/>
              </a:rPr>
              <a:t>analyze ratings to support business decisions.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5336384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60BEAD8-3050-5F64-CA7E-98E4CA978614}"/>
              </a:ext>
            </a:extLst>
          </p:cNvPr>
          <p:cNvSpPr>
            <a:spLocks noGrp="1"/>
          </p:cNvSpPr>
          <p:nvPr>
            <p:ph type="body" idx="1"/>
          </p:nvPr>
        </p:nvSpPr>
        <p:spPr>
          <a:xfrm>
            <a:off x="838200" y="432619"/>
            <a:ext cx="10515600" cy="5744344"/>
          </a:xfrm>
        </p:spPr>
        <p:txBody>
          <a:bodyPr/>
          <a:lstStyle/>
          <a:p>
            <a:pPr marL="114300" indent="0" algn="ctr">
              <a:buNone/>
            </a:pPr>
            <a:r>
              <a:rPr lang="en-IN" b="1" dirty="0">
                <a:solidFill>
                  <a:srgbClr val="FF0000"/>
                </a:solidFill>
              </a:rPr>
              <a:t>CHALLENGES</a:t>
            </a:r>
          </a:p>
          <a:p>
            <a:pPr marL="114300" indent="0" algn="ctr">
              <a:buNone/>
            </a:pPr>
            <a:endParaRPr lang="en-IN" b="1" dirty="0"/>
          </a:p>
          <a:p>
            <a:r>
              <a:rPr lang="en-US" dirty="0"/>
              <a:t>Handling complex queries with multiple joins and aggregations.</a:t>
            </a:r>
          </a:p>
          <a:p>
            <a:r>
              <a:rPr lang="en-US" dirty="0"/>
              <a:t>Ensuring data consistency across tables with foreign keys.</a:t>
            </a:r>
          </a:p>
          <a:p>
            <a:r>
              <a:rPr lang="en-US" dirty="0"/>
              <a:t>Writing CTEs and window functions correctly for ranking and performance analysis.</a:t>
            </a:r>
          </a:p>
          <a:p>
            <a:r>
              <a:rPr lang="en-US" dirty="0"/>
              <a:t>Interpreting results into meaningful business insights.</a:t>
            </a:r>
            <a:endParaRPr lang="en-IN" dirty="0"/>
          </a:p>
          <a:p>
            <a:pPr marL="114300" indent="0">
              <a:buNone/>
            </a:pPr>
            <a:endParaRPr lang="en-IN" dirty="0"/>
          </a:p>
        </p:txBody>
      </p:sp>
    </p:spTree>
    <p:extLst>
      <p:ext uri="{BB962C8B-B14F-4D97-AF65-F5344CB8AC3E}">
        <p14:creationId xmlns:p14="http://schemas.microsoft.com/office/powerpoint/2010/main" val="1254485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A7671BCA-7C4D-DE2F-818E-15B1C8AEF623}"/>
              </a:ext>
            </a:extLst>
          </p:cNvPr>
          <p:cNvSpPr>
            <a:spLocks noGrp="1"/>
          </p:cNvSpPr>
          <p:nvPr>
            <p:ph type="body" idx="1"/>
          </p:nvPr>
        </p:nvSpPr>
        <p:spPr/>
        <p:txBody>
          <a:bodyPr/>
          <a:lstStyle/>
          <a:p>
            <a:pPr marL="114300" indent="0">
              <a:buNone/>
            </a:pPr>
            <a:endParaRPr lang="en-US" dirty="0"/>
          </a:p>
          <a:p>
            <a:pPr marL="114300" indent="0">
              <a:buNone/>
            </a:pPr>
            <a:endParaRPr lang="en-US" dirty="0"/>
          </a:p>
          <a:p>
            <a:pPr marL="114300" indent="0">
              <a:buNone/>
            </a:pPr>
            <a:endParaRPr lang="en-US" dirty="0"/>
          </a:p>
          <a:p>
            <a:pPr marL="114300" indent="0">
              <a:buNone/>
            </a:pPr>
            <a:endParaRPr lang="en-US" dirty="0"/>
          </a:p>
          <a:p>
            <a:pPr marL="114300" indent="0">
              <a:buNone/>
            </a:pPr>
            <a:r>
              <a:rPr lang="en-US" dirty="0"/>
              <a:t>            </a:t>
            </a:r>
            <a:r>
              <a:rPr lang="en-US" sz="3600" b="1" dirty="0">
                <a:solidFill>
                  <a:srgbClr val="FF0000"/>
                </a:solidFill>
              </a:rPr>
              <a:t>THANK YOU</a:t>
            </a:r>
          </a:p>
        </p:txBody>
      </p:sp>
      <p:pic>
        <p:nvPicPr>
          <p:cNvPr id="4098" name="Picture 2">
            <a:extLst>
              <a:ext uri="{FF2B5EF4-FFF2-40B4-BE49-F238E27FC236}">
                <a16:creationId xmlns:a16="http://schemas.microsoft.com/office/drawing/2014/main" id="{132B0CB7-0579-9F5C-FB9A-6C5BD1C199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27225" y="1755408"/>
            <a:ext cx="6134100" cy="38932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18333745"/>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684</TotalTime>
  <Words>1305</Words>
  <Application>Microsoft Office PowerPoint</Application>
  <PresentationFormat>Widescreen</PresentationFormat>
  <Paragraphs>126</Paragraphs>
  <Slides>15</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Calibri</vt:lpstr>
      <vt:lpstr>Arial</vt:lpstr>
      <vt:lpstr>Office Theme</vt:lpstr>
      <vt:lpstr>PowerPoint Presentation</vt:lpstr>
      <vt:lpstr>Agenda</vt:lpstr>
      <vt:lpstr>OBJECTIVE OF THE PROJECT</vt:lpstr>
      <vt:lpstr>ER Diagram and schema explanation</vt:lpstr>
      <vt:lpstr>ER DIAGRAM OF THIS PROJECT</vt:lpstr>
      <vt:lpstr>Key analysis questions (use cases)</vt:lpstr>
      <vt:lpstr>PowerPoint Presentation</vt:lpstr>
      <vt:lpstr>SQL query results with screenshots or summaries</vt:lpstr>
      <vt:lpstr>Final business insights and recommendations</vt:lpstr>
      <vt:lpstr>TABLE OF ABOVE SLIDE INFO</vt:lpstr>
      <vt:lpstr>Conclusion (Key finding overall)  </vt:lpstr>
      <vt:lpstr>Q&amp;A – Restaurant &amp; Consumer Analysis Project</vt:lpstr>
      <vt:lpstr> Experience/Challenges working on SQL – Data Analysis Project. </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Raghu Ram Aduri</dc:creator>
  <cp:lastModifiedBy>Tharun Thanugula</cp:lastModifiedBy>
  <cp:revision>7</cp:revision>
  <dcterms:created xsi:type="dcterms:W3CDTF">2021-02-16T05:19:01Z</dcterms:created>
  <dcterms:modified xsi:type="dcterms:W3CDTF">2025-11-14T03:34:13Z</dcterms:modified>
</cp:coreProperties>
</file>